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inzel Bold" charset="1" panose="00000800000000000000"/>
      <p:regular r:id="rId28"/>
    </p:embeddedFont>
    <p:embeddedFont>
      <p:font typeface="Source Serif Pro Bold" charset="1" panose="02040803050405020204"/>
      <p:regular r:id="rId29"/>
    </p:embeddedFont>
    <p:embeddedFont>
      <p:font typeface="Source Serif Pro" charset="1" panose="02040603050405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kami memutuskan untuk mengembangkan aplikasi monitoring stock di kafe BdiM menggunakan platform berbasis web. Alasan utama karena sistem web lebih efisien dari segi biaya produksi dan perawatan dibandingkan aplikasi mobile atau desktop. Selain itu, sistem web bersifat fleksibel dan dapat diakses melalui berbagai perangkat yang terhubung ke internet, tanpa perlu mengunduh aplikasi tambahan. Hal ini tentu saja akan sangat memudahkan pengguna.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Aspek Ekonomis</a:t>
            </a:r>
          </a:p>
          <a:p>
            <a:r>
              <a:rPr lang="en-US"/>
              <a:t/>
            </a:r>
          </a:p>
          <a:p>
            <a:r>
              <a:rPr lang="en-US"/>
              <a:t>Aspek Manufakrabikitas</a:t>
            </a:r>
          </a:p>
          <a:p>
            <a:r>
              <a:rPr lang="en-US"/>
              <a:t/>
            </a:r>
          </a:p>
          <a:p>
            <a:r>
              <a:rPr lang="en-US"/>
              <a:t>Aspek Sustainbilitas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Aplikasi yang akan dibuat adalah Pengembangan Aplikasi Monitoring Stok di Kafe BdiM </a:t>
            </a:r>
          </a:p>
          <a:p>
            <a:r>
              <a:rPr lang="en-US"/>
              <a:t>yang dibuat berbasis web dan dirancang untuk meningkatkan efisiensi operasional dan </a:t>
            </a:r>
          </a:p>
          <a:p>
            <a:r>
              <a:rPr lang="en-US"/>
              <a:t>meminimalkan kesalahan dalam pengelolaan stok. Berikut adalah beberapa karakteristik utama </a:t>
            </a:r>
          </a:p>
          <a:p>
            <a:r>
              <a:rPr lang="en-US"/>
              <a:t>dari produk ini.</a:t>
            </a:r>
          </a:p>
          <a:p>
            <a:r>
              <a:rPr lang="en-US"/>
              <a:t/>
            </a:r>
          </a:p>
          <a:p>
            <a:r>
              <a:rPr lang="en-US"/>
              <a:t>Keistimewaan aplikasi yang dibuat dibandingkan aplikasi SI lainnya</a:t>
            </a:r>
          </a:p>
          <a:p>
            <a:r>
              <a:rPr lang="en-US"/>
              <a:t>Peningkatan Efisiensi: Aplikasi monitoring stok dapat mengotomatisasi banyak tugas yang sebelumnya dilakukan secara manual, seperti penghitungan stok dan pembuatan pesanan. Ini menghemat waktu dan tenaga karyawan.</a:t>
            </a:r>
          </a:p>
          <a:p>
            <a:r>
              <a:rPr lang="en-US"/>
              <a:t>Pelacakan level stok: Fitur ini memungkinkan pengguna untuk melihat berapa banyak barang yang tersisa</a:t>
            </a:r>
          </a:p>
          <a:p>
            <a:r>
              <a:rPr lang="en-US"/>
              <a:t>Pengambilan Keputusan yang Lebih Baik: Dengan data yang akurat dan real-time, bisnis dapat membuat keputusan yang lebih baik terkait pembelian, produksi, dan penjualan.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kami memutuskan untuk mengembangkan aplikasi monitoring stock di kafe BdiM menggunakan platform berbasis web. Alasan utama karena sistem web lebih efisien dari segi biaya produksi dan perawatan dibandingkan aplikasi mobile atau desktop. Selain itu, sistem web bersifat fleksibel dan dapat diakses melalui berbagai perangkat yang terhubung ke internet, tanpa perlu mengunduh aplikasi tambahan. Hal ini tentu saja akan sangat memudahkan pengguna.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OWNER: menu dasbor (stok tersedia, data barang, barang masuk, barang keluar, dan tabel ketersediaan stok barang)</a:t>
            </a:r>
          </a:p>
          <a:p>
            <a:r>
              <a:rPr lang="en-US"/>
              <a:t/>
            </a:r>
          </a:p>
          <a:p>
            <a:r>
              <a:rPr lang="en-US"/>
              <a:t>menu data transaksi (pengambilan barang yang dikeluarkan oleh kafe BdiM serta pencarian barang yang dapat diakses oleh owner)</a:t>
            </a:r>
          </a:p>
          <a:p>
            <a:r>
              <a:rPr lang="en-US"/>
              <a:t/>
            </a:r>
          </a:p>
          <a:p>
            <a:r>
              <a:rPr lang="en-US"/>
              <a:t>report yang dapat disesuaikan tanggal yang dibutuhkan dan dapat diekspor</a:t>
            </a:r>
          </a:p>
          <a:p>
            <a:r>
              <a:rPr lang="en-US"/>
              <a:t/>
            </a:r>
          </a:p>
          <a:p>
            <a:r>
              <a:rPr lang="en-US"/>
              <a:t>MANAJER: Memiliki akses menu dasbor yang dapat melihat stok tersedia, data barang masuk, dan data barang keluar</a:t>
            </a:r>
          </a:p>
          <a:p>
            <a:r>
              <a:rPr lang="en-US"/>
              <a:t/>
            </a:r>
          </a:p>
          <a:p>
            <a:r>
              <a:rPr lang="en-US"/>
              <a:t> Dapat melihat laporan laba/rugi keuangan melalui aplikasi</a:t>
            </a:r>
          </a:p>
          <a:p>
            <a:r>
              <a:rPr lang="en-US"/>
              <a:t/>
            </a:r>
          </a:p>
          <a:p>
            <a:r>
              <a:rPr lang="en-US"/>
              <a:t> Dapat memasukkan data transaksi yang mencatat penggunaan bahan baku di kafe</a:t>
            </a:r>
          </a:p>
          <a:p>
            <a:r>
              <a:rPr lang="en-US"/>
              <a:t/>
            </a:r>
          </a:p>
          <a:p>
            <a:r>
              <a:rPr lang="en-US"/>
              <a:t>STAF: Staf kafe harus memasukkan data barang secara tepat di waktu tutup kafe, manajer dan owner memiliki gambaran yang jelas mengenai status stok.</a:t>
            </a:r>
          </a:p>
          <a:p>
            <a:r>
              <a:rPr lang="en-US"/>
              <a:t>DAN</a:t>
            </a:r>
          </a:p>
          <a:p>
            <a:r>
              <a:rPr lang="en-US"/>
              <a:t>Memiliki akses ke menu dasbor, dapat melihat laporan laba/rugi keuangan melalui aplikasi, dapat memasukkan data transaksi yang mencatat penggunaan bahan baku di kafe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pembangunan sistem dilakukan selama lima bulan dengan jam kerja 20 jam tiap minggu bagi masing-masing anggota tim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gantt chart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Machine Month mengacu pada periode waktu atau konsep yang digunakan dalam konteks sistem manajemen kinerja mesin atau proses manufaktur, yang sering diukur berdasarkan produktivitas atau penggunaan mesin selama satu bulan.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VSCode = biasanya digunakan untuk pengembangan web, tetapi mendukung banyak bahasa pemrograman</a:t>
            </a:r>
          </a:p>
          <a:p>
            <a:r>
              <a:rPr lang="en-US"/>
              <a:t>CHROME = untuk menjalankan aplikasi</a:t>
            </a:r>
          </a:p>
          <a:p>
            <a:r>
              <a:rPr lang="en-US"/>
              <a:t>XAMPP = dapat mengelola database yang berada di localhost tanpa memerlukan akses internet</a:t>
            </a:r>
          </a:p>
          <a:p>
            <a:r>
              <a:rPr lang="en-US"/>
              <a:t>FIGMA = mendesain interface dari sebuah aplikasi yang ingin dibuat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Blackbox</a:t>
            </a:r>
          </a:p>
          <a:p>
            <a:r>
              <a:rPr lang="en-US"/>
              <a:t>Karena pengujian dilakukan untuk melihat bagaimana aplikasi dari perspektif pengguna. Contohnya menguji login apakah pengguna dapat login dengan kredensial yg benar dan salah, menguji fitur input jumlah barang apakah hasil perhitungannya sudah sesuai.</a:t>
            </a:r>
          </a:p>
          <a:p>
            <a:r>
              <a:rPr lang="en-US"/>
              <a:t>Whitebox</a:t>
            </a:r>
          </a:p>
          <a:p>
            <a:r>
              <a:rPr lang="en-US"/>
              <a:t>Karena pengujian dilakukan oleh pengembang aplikasi sehingga pengujian pengujian dilakukan di bagian internal dari sistem seperti kode, struktur, dan logika dengan lebih mendalam. </a:t>
            </a:r>
          </a:p>
          <a:p>
            <a:r>
              <a:rPr lang="en-US"/>
              <a:t>usability test</a:t>
            </a:r>
          </a:p>
          <a:p>
            <a:r>
              <a:rPr lang="en-US"/>
              <a:t>Karena dengan metode pengujian ini dapat mengidentifikasi masalah atau hambatan yang dialami oleh pengguna dalam berinteraksi dengan sistem (UX). Biasanya dilakukan saat wireframe sudah selesai di Figma.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jpeg" Type="http://schemas.openxmlformats.org/officeDocument/2006/relationships/image"/><Relationship Id="rId4"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jpeg" Type="http://schemas.openxmlformats.org/officeDocument/2006/relationships/image"/><Relationship Id="rId4"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notesSlides/notesSlide9.xml" Type="http://schemas.openxmlformats.org/officeDocument/2006/relationships/notesSlide"/><Relationship Id="rId3" Target="../media/image7.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88" r="0" b="-12888"/>
            </a:stretch>
          </a:blipFill>
        </p:spPr>
      </p:sp>
      <p:grpSp>
        <p:nvGrpSpPr>
          <p:cNvPr name="Group 3" id="3"/>
          <p:cNvGrpSpPr/>
          <p:nvPr/>
        </p:nvGrpSpPr>
        <p:grpSpPr>
          <a:xfrm rot="0">
            <a:off x="14826045" y="637642"/>
            <a:ext cx="1842421" cy="184242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1951542" y="8372475"/>
            <a:ext cx="5307758" cy="885825"/>
          </a:xfrm>
          <a:prstGeom prst="rect">
            <a:avLst/>
          </a:prstGeom>
        </p:spPr>
        <p:txBody>
          <a:bodyPr anchor="t" rtlCol="false" tIns="0" lIns="0" bIns="0" rIns="0">
            <a:spAutoFit/>
          </a:bodyPr>
          <a:lstStyle/>
          <a:p>
            <a:pPr algn="r">
              <a:lnSpc>
                <a:spcPts val="3599"/>
              </a:lnSpc>
            </a:pPr>
            <a:r>
              <a:rPr lang="en-US" sz="2999" b="true">
                <a:solidFill>
                  <a:srgbClr val="2E3127"/>
                </a:solidFill>
                <a:latin typeface="Cinzel Bold"/>
                <a:ea typeface="Cinzel Bold"/>
                <a:cs typeface="Cinzel Bold"/>
                <a:sym typeface="Cinzel Bold"/>
              </a:rPr>
              <a:t>Teknik Komputer</a:t>
            </a:r>
          </a:p>
          <a:p>
            <a:pPr algn="r" marL="0" indent="0" lvl="0">
              <a:lnSpc>
                <a:spcPts val="3599"/>
              </a:lnSpc>
            </a:pPr>
            <a:r>
              <a:rPr lang="en-US" b="true" sz="2999">
                <a:solidFill>
                  <a:srgbClr val="2E3127"/>
                </a:solidFill>
                <a:latin typeface="Cinzel Bold"/>
                <a:ea typeface="Cinzel Bold"/>
                <a:cs typeface="Cinzel Bold"/>
                <a:sym typeface="Cinzel Bold"/>
              </a:rPr>
              <a:t>Universitas Diponegoro</a:t>
            </a:r>
          </a:p>
        </p:txBody>
      </p:sp>
      <p:sp>
        <p:nvSpPr>
          <p:cNvPr name="TextBox 6" id="6"/>
          <p:cNvSpPr txBox="true"/>
          <p:nvPr/>
        </p:nvSpPr>
        <p:spPr>
          <a:xfrm rot="0">
            <a:off x="2259378" y="3531553"/>
            <a:ext cx="14409088" cy="3395344"/>
          </a:xfrm>
          <a:prstGeom prst="rect">
            <a:avLst/>
          </a:prstGeom>
        </p:spPr>
        <p:txBody>
          <a:bodyPr anchor="t" rtlCol="false" tIns="0" lIns="0" bIns="0" rIns="0">
            <a:spAutoFit/>
          </a:bodyPr>
          <a:lstStyle/>
          <a:p>
            <a:pPr algn="ctr" marL="0" indent="0" lvl="0">
              <a:lnSpc>
                <a:spcPts val="8799"/>
              </a:lnSpc>
            </a:pPr>
            <a:r>
              <a:rPr lang="en-US" b="true" sz="8799">
                <a:solidFill>
                  <a:srgbClr val="2E3127"/>
                </a:solidFill>
                <a:latin typeface="Cinzel Bold"/>
                <a:ea typeface="Cinzel Bold"/>
                <a:cs typeface="Cinzel Bold"/>
                <a:sym typeface="Cinzel Bold"/>
              </a:rPr>
              <a:t>pengembangan aplikasi monitoring stok di kafe bdim </a:t>
            </a:r>
          </a:p>
        </p:txBody>
      </p:sp>
      <p:sp>
        <p:nvSpPr>
          <p:cNvPr name="TextBox 7" id="7"/>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01</a:t>
            </a:r>
          </a:p>
        </p:txBody>
      </p:sp>
      <p:sp>
        <p:nvSpPr>
          <p:cNvPr name="TextBox 8" id="8"/>
          <p:cNvSpPr txBox="true"/>
          <p:nvPr/>
        </p:nvSpPr>
        <p:spPr>
          <a:xfrm rot="0">
            <a:off x="1619535" y="8596313"/>
            <a:ext cx="1230678" cy="438150"/>
          </a:xfrm>
          <a:prstGeom prst="rect">
            <a:avLst/>
          </a:prstGeom>
        </p:spPr>
        <p:txBody>
          <a:bodyPr anchor="t" rtlCol="false" tIns="0" lIns="0" bIns="0" rIns="0">
            <a:spAutoFit/>
          </a:bodyPr>
          <a:lstStyle/>
          <a:p>
            <a:pPr algn="l" marL="0" indent="0" lvl="0">
              <a:lnSpc>
                <a:spcPts val="3599"/>
              </a:lnSpc>
            </a:pPr>
            <a:r>
              <a:rPr lang="en-US" b="true" sz="2999">
                <a:solidFill>
                  <a:srgbClr val="2E3127"/>
                </a:solidFill>
                <a:latin typeface="Cinzel Bold"/>
                <a:ea typeface="Cinzel Bold"/>
                <a:cs typeface="Cinzel Bold"/>
                <a:sym typeface="Cinzel Bold"/>
              </a:rPr>
              <a:t>S2T24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1453" t="-52761" r="0" b="0"/>
            </a:stretch>
          </a:blipFill>
        </p:spPr>
      </p:sp>
      <p:sp>
        <p:nvSpPr>
          <p:cNvPr name="TextBox 3" id="3"/>
          <p:cNvSpPr txBox="true"/>
          <p:nvPr/>
        </p:nvSpPr>
        <p:spPr>
          <a:xfrm rot="0">
            <a:off x="1619535" y="4432180"/>
            <a:ext cx="6422890" cy="2079626"/>
          </a:xfrm>
          <a:prstGeom prst="rect">
            <a:avLst/>
          </a:prstGeom>
        </p:spPr>
        <p:txBody>
          <a:bodyPr anchor="t" rtlCol="false" tIns="0" lIns="0" bIns="0" rIns="0">
            <a:spAutoFit/>
          </a:bodyPr>
          <a:lstStyle/>
          <a:p>
            <a:pPr algn="l" marL="0" indent="0" lvl="0">
              <a:lnSpc>
                <a:spcPts val="8000"/>
              </a:lnSpc>
            </a:pPr>
            <a:r>
              <a:rPr lang="en-US" b="true" sz="8000">
                <a:solidFill>
                  <a:srgbClr val="2E3127"/>
                </a:solidFill>
                <a:latin typeface="Cinzel Bold"/>
                <a:ea typeface="Cinzel Bold"/>
                <a:cs typeface="Cinzel Bold"/>
                <a:sym typeface="Cinzel Bold"/>
              </a:rPr>
              <a:t>ANGGOTA KELOMPOK</a:t>
            </a:r>
          </a:p>
        </p:txBody>
      </p:sp>
      <p:grpSp>
        <p:nvGrpSpPr>
          <p:cNvPr name="Group 4" id="4"/>
          <p:cNvGrpSpPr/>
          <p:nvPr/>
        </p:nvGrpSpPr>
        <p:grpSpPr>
          <a:xfrm rot="0">
            <a:off x="9919404" y="3024902"/>
            <a:ext cx="6222919" cy="1239115"/>
            <a:chOff x="0" y="0"/>
            <a:chExt cx="1313597" cy="261565"/>
          </a:xfrm>
        </p:grpSpPr>
        <p:sp>
          <p:nvSpPr>
            <p:cNvPr name="Freeform 5" id="5"/>
            <p:cNvSpPr/>
            <p:nvPr/>
          </p:nvSpPr>
          <p:spPr>
            <a:xfrm flipH="false" flipV="false" rot="0">
              <a:off x="0" y="0"/>
              <a:ext cx="1313597" cy="261565"/>
            </a:xfrm>
            <a:custGeom>
              <a:avLst/>
              <a:gdLst/>
              <a:ahLst/>
              <a:cxnLst/>
              <a:rect r="r" b="b" t="t" l="l"/>
              <a:pathLst>
                <a:path h="261565" w="1313597">
                  <a:moveTo>
                    <a:pt x="124410" y="0"/>
                  </a:moveTo>
                  <a:lnTo>
                    <a:pt x="1189187" y="0"/>
                  </a:lnTo>
                  <a:cubicBezTo>
                    <a:pt x="1222183" y="0"/>
                    <a:pt x="1253827" y="13107"/>
                    <a:pt x="1277158" y="36439"/>
                  </a:cubicBezTo>
                  <a:cubicBezTo>
                    <a:pt x="1300490" y="59770"/>
                    <a:pt x="1313597" y="91414"/>
                    <a:pt x="1313597" y="124410"/>
                  </a:cubicBezTo>
                  <a:lnTo>
                    <a:pt x="1313597" y="137155"/>
                  </a:lnTo>
                  <a:cubicBezTo>
                    <a:pt x="1313597" y="205865"/>
                    <a:pt x="1257897" y="261565"/>
                    <a:pt x="1189187" y="261565"/>
                  </a:cubicBezTo>
                  <a:lnTo>
                    <a:pt x="124410" y="261565"/>
                  </a:lnTo>
                  <a:cubicBezTo>
                    <a:pt x="91414" y="261565"/>
                    <a:pt x="59770" y="248458"/>
                    <a:pt x="36439" y="225126"/>
                  </a:cubicBezTo>
                  <a:cubicBezTo>
                    <a:pt x="13107" y="201795"/>
                    <a:pt x="0" y="170151"/>
                    <a:pt x="0" y="137155"/>
                  </a:cubicBezTo>
                  <a:lnTo>
                    <a:pt x="0" y="124410"/>
                  </a:lnTo>
                  <a:cubicBezTo>
                    <a:pt x="0" y="91414"/>
                    <a:pt x="13107" y="59770"/>
                    <a:pt x="36439" y="36439"/>
                  </a:cubicBezTo>
                  <a:cubicBezTo>
                    <a:pt x="59770" y="13107"/>
                    <a:pt x="91414" y="0"/>
                    <a:pt x="124410" y="0"/>
                  </a:cubicBezTo>
                  <a:close/>
                </a:path>
              </a:pathLst>
            </a:custGeom>
            <a:solidFill>
              <a:srgbClr val="000000">
                <a:alpha val="0"/>
              </a:srgbClr>
            </a:solidFill>
            <a:ln w="19050" cap="rnd">
              <a:solidFill>
                <a:srgbClr val="2E3127"/>
              </a:solidFill>
              <a:prstDash val="solid"/>
              <a:round/>
            </a:ln>
          </p:spPr>
        </p:sp>
        <p:sp>
          <p:nvSpPr>
            <p:cNvPr name="TextBox 6" id="6"/>
            <p:cNvSpPr txBox="true"/>
            <p:nvPr/>
          </p:nvSpPr>
          <p:spPr>
            <a:xfrm>
              <a:off x="0" y="0"/>
              <a:ext cx="1313597" cy="261565"/>
            </a:xfrm>
            <a:prstGeom prst="rect">
              <a:avLst/>
            </a:prstGeom>
          </p:spPr>
          <p:txBody>
            <a:bodyPr anchor="ctr" rtlCol="false" tIns="48423" lIns="48423" bIns="48423" rIns="48423"/>
            <a:lstStyle/>
            <a:p>
              <a:pPr algn="ctr">
                <a:lnSpc>
                  <a:spcPts val="3024"/>
                </a:lnSpc>
              </a:pPr>
            </a:p>
          </p:txBody>
        </p:sp>
      </p:grpSp>
      <p:sp>
        <p:nvSpPr>
          <p:cNvPr name="TextBox 7" id="7"/>
          <p:cNvSpPr txBox="true"/>
          <p:nvPr/>
        </p:nvSpPr>
        <p:spPr>
          <a:xfrm rot="0">
            <a:off x="11393635" y="3189891"/>
            <a:ext cx="3274457" cy="454568"/>
          </a:xfrm>
          <a:prstGeom prst="rect">
            <a:avLst/>
          </a:prstGeom>
        </p:spPr>
        <p:txBody>
          <a:bodyPr anchor="t" rtlCol="false" tIns="0" lIns="0" bIns="0" rIns="0">
            <a:spAutoFit/>
          </a:bodyPr>
          <a:lstStyle/>
          <a:p>
            <a:pPr algn="l" marL="0" indent="0" lvl="0">
              <a:lnSpc>
                <a:spcPts val="3504"/>
              </a:lnSpc>
            </a:pPr>
            <a:r>
              <a:rPr lang="en-US" b="true" sz="2920">
                <a:solidFill>
                  <a:srgbClr val="2E3127"/>
                </a:solidFill>
                <a:latin typeface="Source Serif Pro Bold"/>
                <a:ea typeface="Source Serif Pro Bold"/>
                <a:cs typeface="Source Serif Pro Bold"/>
                <a:sym typeface="Source Serif Pro Bold"/>
              </a:rPr>
              <a:t>Abida Amalia Syifa</a:t>
            </a:r>
          </a:p>
        </p:txBody>
      </p:sp>
      <p:grpSp>
        <p:nvGrpSpPr>
          <p:cNvPr name="Group 8" id="8"/>
          <p:cNvGrpSpPr/>
          <p:nvPr/>
        </p:nvGrpSpPr>
        <p:grpSpPr>
          <a:xfrm rot="0">
            <a:off x="9919404" y="5226042"/>
            <a:ext cx="6222919" cy="1239115"/>
            <a:chOff x="0" y="0"/>
            <a:chExt cx="1313597" cy="261565"/>
          </a:xfrm>
        </p:grpSpPr>
        <p:sp>
          <p:nvSpPr>
            <p:cNvPr name="Freeform 9" id="9"/>
            <p:cNvSpPr/>
            <p:nvPr/>
          </p:nvSpPr>
          <p:spPr>
            <a:xfrm flipH="false" flipV="false" rot="0">
              <a:off x="0" y="0"/>
              <a:ext cx="1313597" cy="261565"/>
            </a:xfrm>
            <a:custGeom>
              <a:avLst/>
              <a:gdLst/>
              <a:ahLst/>
              <a:cxnLst/>
              <a:rect r="r" b="b" t="t" l="l"/>
              <a:pathLst>
                <a:path h="261565" w="1313597">
                  <a:moveTo>
                    <a:pt x="124410" y="0"/>
                  </a:moveTo>
                  <a:lnTo>
                    <a:pt x="1189187" y="0"/>
                  </a:lnTo>
                  <a:cubicBezTo>
                    <a:pt x="1222183" y="0"/>
                    <a:pt x="1253827" y="13107"/>
                    <a:pt x="1277158" y="36439"/>
                  </a:cubicBezTo>
                  <a:cubicBezTo>
                    <a:pt x="1300490" y="59770"/>
                    <a:pt x="1313597" y="91414"/>
                    <a:pt x="1313597" y="124410"/>
                  </a:cubicBezTo>
                  <a:lnTo>
                    <a:pt x="1313597" y="137155"/>
                  </a:lnTo>
                  <a:cubicBezTo>
                    <a:pt x="1313597" y="205865"/>
                    <a:pt x="1257897" y="261565"/>
                    <a:pt x="1189187" y="261565"/>
                  </a:cubicBezTo>
                  <a:lnTo>
                    <a:pt x="124410" y="261565"/>
                  </a:lnTo>
                  <a:cubicBezTo>
                    <a:pt x="91414" y="261565"/>
                    <a:pt x="59770" y="248458"/>
                    <a:pt x="36439" y="225126"/>
                  </a:cubicBezTo>
                  <a:cubicBezTo>
                    <a:pt x="13107" y="201795"/>
                    <a:pt x="0" y="170151"/>
                    <a:pt x="0" y="137155"/>
                  </a:cubicBezTo>
                  <a:lnTo>
                    <a:pt x="0" y="124410"/>
                  </a:lnTo>
                  <a:cubicBezTo>
                    <a:pt x="0" y="91414"/>
                    <a:pt x="13107" y="59770"/>
                    <a:pt x="36439" y="36439"/>
                  </a:cubicBezTo>
                  <a:cubicBezTo>
                    <a:pt x="59770" y="13107"/>
                    <a:pt x="91414" y="0"/>
                    <a:pt x="124410" y="0"/>
                  </a:cubicBezTo>
                  <a:close/>
                </a:path>
              </a:pathLst>
            </a:custGeom>
            <a:solidFill>
              <a:srgbClr val="000000">
                <a:alpha val="0"/>
              </a:srgbClr>
            </a:solidFill>
            <a:ln w="19050" cap="rnd">
              <a:solidFill>
                <a:srgbClr val="2E3127"/>
              </a:solidFill>
              <a:prstDash val="solid"/>
              <a:round/>
            </a:ln>
          </p:spPr>
        </p:sp>
        <p:sp>
          <p:nvSpPr>
            <p:cNvPr name="TextBox 10" id="10"/>
            <p:cNvSpPr txBox="true"/>
            <p:nvPr/>
          </p:nvSpPr>
          <p:spPr>
            <a:xfrm>
              <a:off x="0" y="0"/>
              <a:ext cx="1313597" cy="261565"/>
            </a:xfrm>
            <a:prstGeom prst="rect">
              <a:avLst/>
            </a:prstGeom>
          </p:spPr>
          <p:txBody>
            <a:bodyPr anchor="ctr" rtlCol="false" tIns="48423" lIns="48423" bIns="48423" rIns="48423"/>
            <a:lstStyle/>
            <a:p>
              <a:pPr algn="ctr">
                <a:lnSpc>
                  <a:spcPts val="3024"/>
                </a:lnSpc>
              </a:pPr>
            </a:p>
          </p:txBody>
        </p:sp>
      </p:grpSp>
      <p:grpSp>
        <p:nvGrpSpPr>
          <p:cNvPr name="Group 11" id="11"/>
          <p:cNvGrpSpPr/>
          <p:nvPr/>
        </p:nvGrpSpPr>
        <p:grpSpPr>
          <a:xfrm rot="0">
            <a:off x="9919404" y="7425204"/>
            <a:ext cx="6222919" cy="1239115"/>
            <a:chOff x="0" y="0"/>
            <a:chExt cx="1313597" cy="261565"/>
          </a:xfrm>
        </p:grpSpPr>
        <p:sp>
          <p:nvSpPr>
            <p:cNvPr name="Freeform 12" id="12"/>
            <p:cNvSpPr/>
            <p:nvPr/>
          </p:nvSpPr>
          <p:spPr>
            <a:xfrm flipH="false" flipV="false" rot="0">
              <a:off x="0" y="0"/>
              <a:ext cx="1313597" cy="261565"/>
            </a:xfrm>
            <a:custGeom>
              <a:avLst/>
              <a:gdLst/>
              <a:ahLst/>
              <a:cxnLst/>
              <a:rect r="r" b="b" t="t" l="l"/>
              <a:pathLst>
                <a:path h="261565" w="1313597">
                  <a:moveTo>
                    <a:pt x="124410" y="0"/>
                  </a:moveTo>
                  <a:lnTo>
                    <a:pt x="1189187" y="0"/>
                  </a:lnTo>
                  <a:cubicBezTo>
                    <a:pt x="1222183" y="0"/>
                    <a:pt x="1253827" y="13107"/>
                    <a:pt x="1277158" y="36439"/>
                  </a:cubicBezTo>
                  <a:cubicBezTo>
                    <a:pt x="1300490" y="59770"/>
                    <a:pt x="1313597" y="91414"/>
                    <a:pt x="1313597" y="124410"/>
                  </a:cubicBezTo>
                  <a:lnTo>
                    <a:pt x="1313597" y="137155"/>
                  </a:lnTo>
                  <a:cubicBezTo>
                    <a:pt x="1313597" y="205865"/>
                    <a:pt x="1257897" y="261565"/>
                    <a:pt x="1189187" y="261565"/>
                  </a:cubicBezTo>
                  <a:lnTo>
                    <a:pt x="124410" y="261565"/>
                  </a:lnTo>
                  <a:cubicBezTo>
                    <a:pt x="91414" y="261565"/>
                    <a:pt x="59770" y="248458"/>
                    <a:pt x="36439" y="225126"/>
                  </a:cubicBezTo>
                  <a:cubicBezTo>
                    <a:pt x="13107" y="201795"/>
                    <a:pt x="0" y="170151"/>
                    <a:pt x="0" y="137155"/>
                  </a:cubicBezTo>
                  <a:lnTo>
                    <a:pt x="0" y="124410"/>
                  </a:lnTo>
                  <a:cubicBezTo>
                    <a:pt x="0" y="91414"/>
                    <a:pt x="13107" y="59770"/>
                    <a:pt x="36439" y="36439"/>
                  </a:cubicBezTo>
                  <a:cubicBezTo>
                    <a:pt x="59770" y="13107"/>
                    <a:pt x="91414" y="0"/>
                    <a:pt x="124410" y="0"/>
                  </a:cubicBezTo>
                  <a:close/>
                </a:path>
              </a:pathLst>
            </a:custGeom>
            <a:solidFill>
              <a:srgbClr val="000000">
                <a:alpha val="0"/>
              </a:srgbClr>
            </a:solidFill>
            <a:ln w="19050" cap="rnd">
              <a:solidFill>
                <a:srgbClr val="2E3127"/>
              </a:solidFill>
              <a:prstDash val="solid"/>
              <a:round/>
            </a:ln>
          </p:spPr>
        </p:sp>
        <p:sp>
          <p:nvSpPr>
            <p:cNvPr name="TextBox 13" id="13"/>
            <p:cNvSpPr txBox="true"/>
            <p:nvPr/>
          </p:nvSpPr>
          <p:spPr>
            <a:xfrm>
              <a:off x="0" y="0"/>
              <a:ext cx="1313597" cy="261565"/>
            </a:xfrm>
            <a:prstGeom prst="rect">
              <a:avLst/>
            </a:prstGeom>
          </p:spPr>
          <p:txBody>
            <a:bodyPr anchor="ctr" rtlCol="false" tIns="48423" lIns="48423" bIns="48423" rIns="48423"/>
            <a:lstStyle/>
            <a:p>
              <a:pPr algn="ctr">
                <a:lnSpc>
                  <a:spcPts val="3024"/>
                </a:lnSpc>
              </a:pPr>
            </a:p>
          </p:txBody>
        </p:sp>
      </p:grpSp>
      <p:sp>
        <p:nvSpPr>
          <p:cNvPr name="TextBox 14" id="14"/>
          <p:cNvSpPr txBox="true"/>
          <p:nvPr/>
        </p:nvSpPr>
        <p:spPr>
          <a:xfrm rot="0">
            <a:off x="11170345" y="5391031"/>
            <a:ext cx="3721037" cy="454568"/>
          </a:xfrm>
          <a:prstGeom prst="rect">
            <a:avLst/>
          </a:prstGeom>
        </p:spPr>
        <p:txBody>
          <a:bodyPr anchor="t" rtlCol="false" tIns="0" lIns="0" bIns="0" rIns="0">
            <a:spAutoFit/>
          </a:bodyPr>
          <a:lstStyle/>
          <a:p>
            <a:pPr algn="l" marL="0" indent="0" lvl="0">
              <a:lnSpc>
                <a:spcPts val="3504"/>
              </a:lnSpc>
            </a:pPr>
            <a:r>
              <a:rPr lang="en-US" b="true" sz="2920">
                <a:solidFill>
                  <a:srgbClr val="2E3127"/>
                </a:solidFill>
                <a:latin typeface="Source Serif Pro Bold"/>
                <a:ea typeface="Source Serif Pro Bold"/>
                <a:cs typeface="Source Serif Pro Bold"/>
                <a:sym typeface="Source Serif Pro Bold"/>
              </a:rPr>
              <a:t>Rendy Hartono Putra</a:t>
            </a:r>
          </a:p>
        </p:txBody>
      </p:sp>
      <p:sp>
        <p:nvSpPr>
          <p:cNvPr name="TextBox 15" id="15"/>
          <p:cNvSpPr txBox="true"/>
          <p:nvPr/>
        </p:nvSpPr>
        <p:spPr>
          <a:xfrm rot="0">
            <a:off x="11696923" y="5836074"/>
            <a:ext cx="2667881" cy="447675"/>
          </a:xfrm>
          <a:prstGeom prst="rect">
            <a:avLst/>
          </a:prstGeom>
        </p:spPr>
        <p:txBody>
          <a:bodyPr anchor="t" rtlCol="false" tIns="0" lIns="0" bIns="0" rIns="0">
            <a:spAutoFit/>
          </a:bodyPr>
          <a:lstStyle/>
          <a:p>
            <a:pPr algn="ctr" marL="0" indent="0" lvl="0">
              <a:lnSpc>
                <a:spcPts val="3504"/>
              </a:lnSpc>
            </a:pPr>
            <a:r>
              <a:rPr lang="en-US" sz="2920">
                <a:solidFill>
                  <a:srgbClr val="2E3127"/>
                </a:solidFill>
                <a:latin typeface="Source Serif Pro"/>
                <a:ea typeface="Source Serif Pro"/>
                <a:cs typeface="Source Serif Pro"/>
                <a:sym typeface="Source Serif Pro"/>
              </a:rPr>
              <a:t>21120121130071</a:t>
            </a:r>
          </a:p>
        </p:txBody>
      </p:sp>
      <p:sp>
        <p:nvSpPr>
          <p:cNvPr name="TextBox 16" id="16"/>
          <p:cNvSpPr txBox="true"/>
          <p:nvPr/>
        </p:nvSpPr>
        <p:spPr>
          <a:xfrm rot="0">
            <a:off x="11479421" y="7601759"/>
            <a:ext cx="3721037" cy="454568"/>
          </a:xfrm>
          <a:prstGeom prst="rect">
            <a:avLst/>
          </a:prstGeom>
        </p:spPr>
        <p:txBody>
          <a:bodyPr anchor="t" rtlCol="false" tIns="0" lIns="0" bIns="0" rIns="0">
            <a:spAutoFit/>
          </a:bodyPr>
          <a:lstStyle/>
          <a:p>
            <a:pPr algn="l" marL="0" indent="0" lvl="0">
              <a:lnSpc>
                <a:spcPts val="3504"/>
              </a:lnSpc>
            </a:pPr>
            <a:r>
              <a:rPr lang="en-US" b="true" sz="2920">
                <a:solidFill>
                  <a:srgbClr val="2E3127"/>
                </a:solidFill>
                <a:latin typeface="Source Serif Pro Bold"/>
                <a:ea typeface="Source Serif Pro Bold"/>
                <a:cs typeface="Source Serif Pro Bold"/>
                <a:sym typeface="Source Serif Pro Bold"/>
              </a:rPr>
              <a:t>Maritza Septiarini</a:t>
            </a:r>
          </a:p>
        </p:txBody>
      </p:sp>
      <p:sp>
        <p:nvSpPr>
          <p:cNvPr name="TextBox 17" id="17"/>
          <p:cNvSpPr txBox="true"/>
          <p:nvPr/>
        </p:nvSpPr>
        <p:spPr>
          <a:xfrm rot="0">
            <a:off x="11640504" y="8035236"/>
            <a:ext cx="2780719" cy="447675"/>
          </a:xfrm>
          <a:prstGeom prst="rect">
            <a:avLst/>
          </a:prstGeom>
        </p:spPr>
        <p:txBody>
          <a:bodyPr anchor="t" rtlCol="false" tIns="0" lIns="0" bIns="0" rIns="0">
            <a:spAutoFit/>
          </a:bodyPr>
          <a:lstStyle/>
          <a:p>
            <a:pPr algn="ctr" marL="0" indent="0" lvl="0">
              <a:lnSpc>
                <a:spcPts val="3504"/>
              </a:lnSpc>
            </a:pPr>
            <a:r>
              <a:rPr lang="en-US" sz="2920">
                <a:solidFill>
                  <a:srgbClr val="2E3127"/>
                </a:solidFill>
                <a:latin typeface="Source Serif Pro"/>
                <a:ea typeface="Source Serif Pro"/>
                <a:cs typeface="Source Serif Pro"/>
                <a:sym typeface="Source Serif Pro"/>
              </a:rPr>
              <a:t>21120121140122</a:t>
            </a:r>
          </a:p>
        </p:txBody>
      </p:sp>
      <p:sp>
        <p:nvSpPr>
          <p:cNvPr name="TextBox 18" id="18"/>
          <p:cNvSpPr txBox="true"/>
          <p:nvPr/>
        </p:nvSpPr>
        <p:spPr>
          <a:xfrm rot="0">
            <a:off x="11640504" y="3634935"/>
            <a:ext cx="2780719" cy="447675"/>
          </a:xfrm>
          <a:prstGeom prst="rect">
            <a:avLst/>
          </a:prstGeom>
        </p:spPr>
        <p:txBody>
          <a:bodyPr anchor="t" rtlCol="false" tIns="0" lIns="0" bIns="0" rIns="0">
            <a:spAutoFit/>
          </a:bodyPr>
          <a:lstStyle/>
          <a:p>
            <a:pPr algn="ctr" marL="0" indent="0" lvl="0">
              <a:lnSpc>
                <a:spcPts val="3504"/>
              </a:lnSpc>
            </a:pPr>
            <a:r>
              <a:rPr lang="en-US" sz="2920">
                <a:solidFill>
                  <a:srgbClr val="2E3127"/>
                </a:solidFill>
                <a:latin typeface="Source Serif Pro"/>
                <a:ea typeface="Source Serif Pro"/>
                <a:cs typeface="Source Serif Pro"/>
                <a:sym typeface="Source Serif Pro"/>
              </a:rPr>
              <a:t>21120121140142</a:t>
            </a:r>
          </a:p>
        </p:txBody>
      </p:sp>
      <p:sp>
        <p:nvSpPr>
          <p:cNvPr name="TextBox 19" id="19"/>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20847" b="-51909"/>
            </a:stretch>
          </a:blipFill>
        </p:spPr>
      </p:sp>
      <p:sp>
        <p:nvSpPr>
          <p:cNvPr name="TextBox 3" id="3"/>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FFFFFA"/>
                </a:solidFill>
                <a:latin typeface="Cinzel Bold"/>
                <a:ea typeface="Cinzel Bold"/>
                <a:cs typeface="Cinzel Bold"/>
                <a:sym typeface="Cinzel Bold"/>
              </a:rPr>
              <a:t>03</a:t>
            </a:r>
          </a:p>
        </p:txBody>
      </p:sp>
      <p:sp>
        <p:nvSpPr>
          <p:cNvPr name="TextBox 4" id="4"/>
          <p:cNvSpPr txBox="true"/>
          <p:nvPr/>
        </p:nvSpPr>
        <p:spPr>
          <a:xfrm rot="0">
            <a:off x="6198052" y="1169915"/>
            <a:ext cx="5891895" cy="920750"/>
          </a:xfrm>
          <a:prstGeom prst="rect">
            <a:avLst/>
          </a:prstGeom>
        </p:spPr>
        <p:txBody>
          <a:bodyPr anchor="t" rtlCol="false" tIns="0" lIns="0" bIns="0" rIns="0">
            <a:spAutoFit/>
          </a:bodyPr>
          <a:lstStyle/>
          <a:p>
            <a:pPr algn="ctr" marL="0" indent="0" lvl="0">
              <a:lnSpc>
                <a:spcPts val="6999"/>
              </a:lnSpc>
            </a:pPr>
            <a:r>
              <a:rPr lang="en-US" b="true" sz="6999">
                <a:solidFill>
                  <a:srgbClr val="FFFFFA"/>
                </a:solidFill>
                <a:latin typeface="Cinzel Bold"/>
                <a:ea typeface="Cinzel Bold"/>
                <a:cs typeface="Cinzel Bold"/>
                <a:sym typeface="Cinzel Bold"/>
              </a:rPr>
              <a:t>DAFTAR ISI</a:t>
            </a:r>
          </a:p>
        </p:txBody>
      </p:sp>
      <p:sp>
        <p:nvSpPr>
          <p:cNvPr name="TextBox 5" id="5"/>
          <p:cNvSpPr txBox="true"/>
          <p:nvPr/>
        </p:nvSpPr>
        <p:spPr>
          <a:xfrm rot="0">
            <a:off x="1398043" y="3332244"/>
            <a:ext cx="5102200" cy="3848265"/>
          </a:xfrm>
          <a:prstGeom prst="rect">
            <a:avLst/>
          </a:prstGeom>
        </p:spPr>
        <p:txBody>
          <a:bodyPr anchor="t" rtlCol="false" tIns="0" lIns="0" bIns="0" rIns="0">
            <a:spAutoFit/>
          </a:bodyPr>
          <a:lstStyle/>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L</a:t>
            </a:r>
            <a:r>
              <a:rPr lang="en-US" sz="3382">
                <a:solidFill>
                  <a:srgbClr val="FFFFFA"/>
                </a:solidFill>
                <a:latin typeface="Source Serif Pro"/>
                <a:ea typeface="Source Serif Pro"/>
                <a:cs typeface="Source Serif Pro"/>
                <a:sym typeface="Source Serif Pro"/>
              </a:rPr>
              <a:t>atar belakang</a:t>
            </a:r>
          </a:p>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R</a:t>
            </a:r>
            <a:r>
              <a:rPr lang="en-US" sz="3382">
                <a:solidFill>
                  <a:srgbClr val="FFFFFA"/>
                </a:solidFill>
                <a:latin typeface="Source Serif Pro"/>
                <a:ea typeface="Source Serif Pro"/>
                <a:cs typeface="Source Serif Pro"/>
                <a:sym typeface="Source Serif Pro"/>
              </a:rPr>
              <a:t>umusan masalah</a:t>
            </a:r>
          </a:p>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Tu</a:t>
            </a:r>
            <a:r>
              <a:rPr lang="en-US" sz="3382">
                <a:solidFill>
                  <a:srgbClr val="FFFFFA"/>
                </a:solidFill>
                <a:latin typeface="Source Serif Pro"/>
                <a:ea typeface="Source Serif Pro"/>
                <a:cs typeface="Source Serif Pro"/>
                <a:sym typeface="Source Serif Pro"/>
              </a:rPr>
              <a:t>juan</a:t>
            </a:r>
          </a:p>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A</a:t>
            </a:r>
            <a:r>
              <a:rPr lang="en-US" sz="3382">
                <a:solidFill>
                  <a:srgbClr val="FFFFFA"/>
                </a:solidFill>
                <a:latin typeface="Source Serif Pro"/>
                <a:ea typeface="Source Serif Pro"/>
                <a:cs typeface="Source Serif Pro"/>
                <a:sym typeface="Source Serif Pro"/>
              </a:rPr>
              <a:t>nalisis permasalahan</a:t>
            </a:r>
          </a:p>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K</a:t>
            </a:r>
            <a:r>
              <a:rPr lang="en-US" sz="3382">
                <a:solidFill>
                  <a:srgbClr val="FFFFFA"/>
                </a:solidFill>
                <a:latin typeface="Source Serif Pro"/>
                <a:ea typeface="Source Serif Pro"/>
                <a:cs typeface="Source Serif Pro"/>
                <a:sym typeface="Source Serif Pro"/>
              </a:rPr>
              <a:t>arakteristik produk</a:t>
            </a:r>
          </a:p>
          <a:p>
            <a:pPr algn="l" marL="730371" indent="-365185" lvl="1">
              <a:lnSpc>
                <a:spcPts val="5108"/>
              </a:lnSpc>
              <a:buAutoNum type="arabicPeriod" startAt="1"/>
            </a:pPr>
            <a:r>
              <a:rPr lang="en-US" sz="3382">
                <a:solidFill>
                  <a:srgbClr val="FFFFFA"/>
                </a:solidFill>
                <a:latin typeface="Source Serif Pro"/>
                <a:ea typeface="Source Serif Pro"/>
                <a:cs typeface="Source Serif Pro"/>
                <a:sym typeface="Source Serif Pro"/>
              </a:rPr>
              <a:t>P</a:t>
            </a:r>
            <a:r>
              <a:rPr lang="en-US" sz="3382">
                <a:solidFill>
                  <a:srgbClr val="FFFFFA"/>
                </a:solidFill>
                <a:latin typeface="Source Serif Pro"/>
                <a:ea typeface="Source Serif Pro"/>
                <a:cs typeface="Source Serif Pro"/>
                <a:sym typeface="Source Serif Pro"/>
              </a:rPr>
              <a:t>emilihan solusi</a:t>
            </a:r>
          </a:p>
        </p:txBody>
      </p:sp>
      <p:sp>
        <p:nvSpPr>
          <p:cNvPr name="TextBox 6" id="6"/>
          <p:cNvSpPr txBox="true"/>
          <p:nvPr/>
        </p:nvSpPr>
        <p:spPr>
          <a:xfrm rot="0">
            <a:off x="8095480" y="3332244"/>
            <a:ext cx="9653824" cy="3848265"/>
          </a:xfrm>
          <a:prstGeom prst="rect">
            <a:avLst/>
          </a:prstGeom>
        </p:spPr>
        <p:txBody>
          <a:bodyPr anchor="t" rtlCol="false" tIns="0" lIns="0" bIns="0" rIns="0">
            <a:spAutoFit/>
          </a:bodyPr>
          <a:lstStyle/>
          <a:p>
            <a:pPr algn="just">
              <a:lnSpc>
                <a:spcPts val="5108"/>
              </a:lnSpc>
            </a:pPr>
            <a:r>
              <a:rPr lang="en-US" sz="3382">
                <a:solidFill>
                  <a:srgbClr val="FFFFFA"/>
                </a:solidFill>
                <a:latin typeface="Source Serif Pro"/>
                <a:ea typeface="Source Serif Pro"/>
                <a:cs typeface="Source Serif Pro"/>
                <a:sym typeface="Source Serif Pro"/>
              </a:rPr>
              <a:t>7. Skenario pemanfaatan produk oleh stakeholder</a:t>
            </a:r>
          </a:p>
          <a:p>
            <a:pPr algn="just">
              <a:lnSpc>
                <a:spcPts val="5108"/>
              </a:lnSpc>
            </a:pPr>
            <a:r>
              <a:rPr lang="en-US" sz="3382">
                <a:solidFill>
                  <a:srgbClr val="FFFFFA"/>
                </a:solidFill>
                <a:latin typeface="Source Serif Pro"/>
                <a:ea typeface="Source Serif Pro"/>
                <a:cs typeface="Source Serif Pro"/>
                <a:sym typeface="Source Serif Pro"/>
              </a:rPr>
              <a:t>8. </a:t>
            </a:r>
            <a:r>
              <a:rPr lang="en-US" sz="3382">
                <a:solidFill>
                  <a:srgbClr val="FFFFFA"/>
                </a:solidFill>
                <a:latin typeface="Source Serif Pro"/>
                <a:ea typeface="Source Serif Pro"/>
                <a:cs typeface="Source Serif Pro"/>
                <a:sym typeface="Source Serif Pro"/>
              </a:rPr>
              <a:t>Jadwal pengembangan</a:t>
            </a:r>
          </a:p>
          <a:p>
            <a:pPr algn="just">
              <a:lnSpc>
                <a:spcPts val="5108"/>
              </a:lnSpc>
            </a:pPr>
            <a:r>
              <a:rPr lang="en-US" sz="3382">
                <a:solidFill>
                  <a:srgbClr val="FFFFFA"/>
                </a:solidFill>
                <a:latin typeface="Source Serif Pro"/>
                <a:ea typeface="Source Serif Pro"/>
                <a:cs typeface="Source Serif Pro"/>
                <a:sym typeface="Source Serif Pro"/>
              </a:rPr>
              <a:t>9. </a:t>
            </a:r>
            <a:r>
              <a:rPr lang="en-US" sz="3382">
                <a:solidFill>
                  <a:srgbClr val="FFFFFA"/>
                </a:solidFill>
                <a:latin typeface="Source Serif Pro"/>
                <a:ea typeface="Source Serif Pro"/>
                <a:cs typeface="Source Serif Pro"/>
                <a:sym typeface="Source Serif Pro"/>
              </a:rPr>
              <a:t>Development tools</a:t>
            </a:r>
          </a:p>
          <a:p>
            <a:pPr algn="just">
              <a:lnSpc>
                <a:spcPts val="5108"/>
              </a:lnSpc>
            </a:pPr>
            <a:r>
              <a:rPr lang="en-US" sz="3382">
                <a:solidFill>
                  <a:srgbClr val="FFFFFA"/>
                </a:solidFill>
                <a:latin typeface="Source Serif Pro"/>
                <a:ea typeface="Source Serif Pro"/>
                <a:cs typeface="Source Serif Pro"/>
                <a:sym typeface="Source Serif Pro"/>
              </a:rPr>
              <a:t>10. </a:t>
            </a:r>
            <a:r>
              <a:rPr lang="en-US" sz="3382">
                <a:solidFill>
                  <a:srgbClr val="FFFFFA"/>
                </a:solidFill>
                <a:latin typeface="Source Serif Pro"/>
                <a:ea typeface="Source Serif Pro"/>
                <a:cs typeface="Source Serif Pro"/>
                <a:sym typeface="Source Serif Pro"/>
              </a:rPr>
              <a:t>Test equipment</a:t>
            </a:r>
          </a:p>
          <a:p>
            <a:pPr algn="just">
              <a:lnSpc>
                <a:spcPts val="5108"/>
              </a:lnSpc>
            </a:pPr>
            <a:r>
              <a:rPr lang="en-US" sz="3382">
                <a:solidFill>
                  <a:srgbClr val="FFFFFA"/>
                </a:solidFill>
                <a:latin typeface="Source Serif Pro"/>
                <a:ea typeface="Source Serif Pro"/>
                <a:cs typeface="Source Serif Pro"/>
                <a:sym typeface="Source Serif Pro"/>
              </a:rPr>
              <a:t>11. </a:t>
            </a:r>
            <a:r>
              <a:rPr lang="en-US" sz="3382">
                <a:solidFill>
                  <a:srgbClr val="FFFFFA"/>
                </a:solidFill>
                <a:latin typeface="Source Serif Pro"/>
                <a:ea typeface="Source Serif Pro"/>
                <a:cs typeface="Source Serif Pro"/>
                <a:sym typeface="Source Serif Pro"/>
              </a:rPr>
              <a:t>Kebutuhan expert</a:t>
            </a:r>
          </a:p>
          <a:p>
            <a:pPr algn="just">
              <a:lnSpc>
                <a:spcPts val="5108"/>
              </a:lnSpc>
            </a:pPr>
            <a:r>
              <a:rPr lang="en-US" sz="3382">
                <a:solidFill>
                  <a:srgbClr val="FFFFFA"/>
                </a:solidFill>
                <a:latin typeface="Source Serif Pro"/>
                <a:ea typeface="Source Serif Pro"/>
                <a:cs typeface="Source Serif Pro"/>
                <a:sym typeface="Source Serif Pro"/>
              </a:rPr>
              <a:t>12. </a:t>
            </a:r>
            <a:r>
              <a:rPr lang="en-US" sz="3382">
                <a:solidFill>
                  <a:srgbClr val="FFFFFA"/>
                </a:solidFill>
                <a:latin typeface="Source Serif Pro"/>
                <a:ea typeface="Source Serif Pro"/>
                <a:cs typeface="Source Serif Pro"/>
                <a:sym typeface="Source Serif Pro"/>
              </a:rPr>
              <a:t>Perkiraan biaya</a:t>
            </a:r>
          </a:p>
        </p:txBody>
      </p:sp>
      <p:sp>
        <p:nvSpPr>
          <p:cNvPr name="TextBox 7" id="7"/>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FFFFFA"/>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703" r="0" b="0"/>
            </a:stretch>
          </a:blipFill>
        </p:spPr>
      </p:sp>
      <p:sp>
        <p:nvSpPr>
          <p:cNvPr name="TextBox 3" id="3"/>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04</a:t>
            </a:r>
          </a:p>
        </p:txBody>
      </p:sp>
      <p:sp>
        <p:nvSpPr>
          <p:cNvPr name="TextBox 4" id="4"/>
          <p:cNvSpPr txBox="true"/>
          <p:nvPr/>
        </p:nvSpPr>
        <p:spPr>
          <a:xfrm rot="0">
            <a:off x="1619535" y="4088765"/>
            <a:ext cx="7917718" cy="2280919"/>
          </a:xfrm>
          <a:prstGeom prst="rect">
            <a:avLst/>
          </a:prstGeom>
        </p:spPr>
        <p:txBody>
          <a:bodyPr anchor="t" rtlCol="false" tIns="0" lIns="0" bIns="0" rIns="0">
            <a:spAutoFit/>
          </a:bodyPr>
          <a:lstStyle/>
          <a:p>
            <a:pPr algn="just" marL="0" indent="0" lvl="0">
              <a:lnSpc>
                <a:spcPts val="8799"/>
              </a:lnSpc>
            </a:pPr>
            <a:r>
              <a:rPr lang="en-US" b="true" sz="8799">
                <a:solidFill>
                  <a:srgbClr val="2E3127"/>
                </a:solidFill>
                <a:latin typeface="Cinzel Bold"/>
                <a:ea typeface="Cinzel Bold"/>
                <a:cs typeface="Cinzel Bold"/>
                <a:sym typeface="Cinzel Bold"/>
              </a:rPr>
              <a:t>LATAR BELAKANG</a:t>
            </a:r>
          </a:p>
        </p:txBody>
      </p:sp>
      <p:sp>
        <p:nvSpPr>
          <p:cNvPr name="TextBox 5" id="5"/>
          <p:cNvSpPr txBox="true"/>
          <p:nvPr/>
        </p:nvSpPr>
        <p:spPr>
          <a:xfrm rot="0">
            <a:off x="9163050" y="2718435"/>
            <a:ext cx="8484963" cy="4764405"/>
          </a:xfrm>
          <a:prstGeom prst="rect">
            <a:avLst/>
          </a:prstGeom>
        </p:spPr>
        <p:txBody>
          <a:bodyPr anchor="t" rtlCol="false" tIns="0" lIns="0" bIns="0" rIns="0">
            <a:spAutoFit/>
          </a:bodyPr>
          <a:lstStyle/>
          <a:p>
            <a:pPr algn="just" marL="0" indent="0" lvl="0">
              <a:lnSpc>
                <a:spcPts val="4799"/>
              </a:lnSpc>
            </a:pPr>
            <a:r>
              <a:rPr lang="en-US" sz="3199">
                <a:solidFill>
                  <a:srgbClr val="2E3127"/>
                </a:solidFill>
                <a:latin typeface="Source Serif Pro"/>
                <a:ea typeface="Source Serif Pro"/>
                <a:cs typeface="Source Serif Pro"/>
                <a:sym typeface="Source Serif Pro"/>
              </a:rPr>
              <a:t>Kafe BdiM di Tembalang, Semarang, merupakan tempat favorit mahasiswa dan masyarakat umum, dikenal karena suasana nyaman dan menu yang beragam. Pengelolaan stok bahan baku saat ini masih menggunakan metode konvensional, dengan pencatatan manual transaksi dan daftar pembelian di atas kertas.</a:t>
            </a:r>
          </a:p>
        </p:txBody>
      </p:sp>
      <p:sp>
        <p:nvSpPr>
          <p:cNvPr name="TextBox 6" id="6"/>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888" r="0" b="-12888"/>
            </a:stretch>
          </a:blipFill>
        </p:spPr>
      </p:sp>
      <p:sp>
        <p:nvSpPr>
          <p:cNvPr name="TextBox 3" id="3"/>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05</a:t>
            </a:r>
          </a:p>
        </p:txBody>
      </p:sp>
      <p:pic>
        <p:nvPicPr>
          <p:cNvPr name="Picture 4" id="4"/>
          <p:cNvPicPr>
            <a:picLocks noChangeAspect="true"/>
          </p:cNvPicPr>
          <p:nvPr/>
        </p:nvPicPr>
        <p:blipFill>
          <a:blip r:embed="rId3"/>
          <a:stretch>
            <a:fillRect/>
          </a:stretch>
        </p:blipFill>
        <p:spPr>
          <a:xfrm rot="0">
            <a:off x="9365601" y="4505647"/>
            <a:ext cx="7654232" cy="3456398"/>
          </a:xfrm>
          <a:prstGeom prst="rect">
            <a:avLst/>
          </a:prstGeom>
        </p:spPr>
      </p:pic>
      <p:sp>
        <p:nvSpPr>
          <p:cNvPr name="TextBox 5" id="5"/>
          <p:cNvSpPr txBox="true"/>
          <p:nvPr/>
        </p:nvSpPr>
        <p:spPr>
          <a:xfrm rot="0">
            <a:off x="6094888" y="2337569"/>
            <a:ext cx="11164412" cy="1069976"/>
          </a:xfrm>
          <a:prstGeom prst="rect">
            <a:avLst/>
          </a:prstGeom>
        </p:spPr>
        <p:txBody>
          <a:bodyPr anchor="t" rtlCol="false" tIns="0" lIns="0" bIns="0" rIns="0">
            <a:spAutoFit/>
          </a:bodyPr>
          <a:lstStyle/>
          <a:p>
            <a:pPr algn="r" marL="0" indent="0" lvl="0">
              <a:lnSpc>
                <a:spcPts val="8000"/>
              </a:lnSpc>
            </a:pPr>
            <a:r>
              <a:rPr lang="en-US" b="true" sz="8000">
                <a:solidFill>
                  <a:srgbClr val="2E3127"/>
                </a:solidFill>
                <a:latin typeface="Cinzel Bold"/>
                <a:ea typeface="Cinzel Bold"/>
                <a:cs typeface="Cinzel Bold"/>
                <a:sym typeface="Cinzel Bold"/>
              </a:rPr>
              <a:t>RUMUSAN MASALAH</a:t>
            </a:r>
          </a:p>
        </p:txBody>
      </p:sp>
      <p:sp>
        <p:nvSpPr>
          <p:cNvPr name="TextBox 6" id="6"/>
          <p:cNvSpPr txBox="true"/>
          <p:nvPr/>
        </p:nvSpPr>
        <p:spPr>
          <a:xfrm rot="0">
            <a:off x="2111716" y="5005122"/>
            <a:ext cx="6051710" cy="2466975"/>
          </a:xfrm>
          <a:prstGeom prst="rect">
            <a:avLst/>
          </a:prstGeom>
        </p:spPr>
        <p:txBody>
          <a:bodyPr anchor="t" rtlCol="false" tIns="0" lIns="0" bIns="0" rIns="0">
            <a:spAutoFit/>
          </a:bodyPr>
          <a:lstStyle/>
          <a:p>
            <a:pPr algn="just" marL="0" indent="0" lvl="0">
              <a:lnSpc>
                <a:spcPts val="3959"/>
              </a:lnSpc>
            </a:pPr>
            <a:r>
              <a:rPr lang="en-US" sz="3299">
                <a:solidFill>
                  <a:srgbClr val="2E3127"/>
                </a:solidFill>
                <a:latin typeface="Source Serif Pro"/>
                <a:ea typeface="Source Serif Pro"/>
                <a:cs typeface="Source Serif Pro"/>
                <a:sym typeface="Source Serif Pro"/>
              </a:rPr>
              <a:t>Bagaimana merancang dan mengembangkan aplikasi yang dapat digunakan untuk mengelola dan mencatat jumlah barang di kafe BdiM?</a:t>
            </a:r>
          </a:p>
        </p:txBody>
      </p:sp>
      <p:sp>
        <p:nvSpPr>
          <p:cNvPr name="TextBox 7" id="7"/>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888" r="0" b="-12888"/>
            </a:stretch>
          </a:blipFill>
        </p:spPr>
      </p:sp>
      <p:sp>
        <p:nvSpPr>
          <p:cNvPr name="TextBox 3" id="3"/>
          <p:cNvSpPr txBox="true"/>
          <p:nvPr/>
        </p:nvSpPr>
        <p:spPr>
          <a:xfrm rot="0">
            <a:off x="1619535" y="1206427"/>
            <a:ext cx="1279686" cy="695325"/>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06</a:t>
            </a:r>
          </a:p>
        </p:txBody>
      </p:sp>
      <p:sp>
        <p:nvSpPr>
          <p:cNvPr name="TextBox 4" id="4"/>
          <p:cNvSpPr txBox="true"/>
          <p:nvPr/>
        </p:nvSpPr>
        <p:spPr>
          <a:xfrm rot="0">
            <a:off x="1619535" y="2852567"/>
            <a:ext cx="9189110" cy="1069976"/>
          </a:xfrm>
          <a:prstGeom prst="rect">
            <a:avLst/>
          </a:prstGeom>
        </p:spPr>
        <p:txBody>
          <a:bodyPr anchor="t" rtlCol="false" tIns="0" lIns="0" bIns="0" rIns="0">
            <a:spAutoFit/>
          </a:bodyPr>
          <a:lstStyle/>
          <a:p>
            <a:pPr algn="l" marL="0" indent="0" lvl="0">
              <a:lnSpc>
                <a:spcPts val="8000"/>
              </a:lnSpc>
            </a:pPr>
            <a:r>
              <a:rPr lang="en-US" b="true" sz="8000">
                <a:solidFill>
                  <a:srgbClr val="2E3127"/>
                </a:solidFill>
                <a:latin typeface="Cinzel Bold"/>
                <a:ea typeface="Cinzel Bold"/>
                <a:cs typeface="Cinzel Bold"/>
                <a:sym typeface="Cinzel Bold"/>
              </a:rPr>
              <a:t>TUJUAN</a:t>
            </a:r>
          </a:p>
        </p:txBody>
      </p:sp>
      <p:sp>
        <p:nvSpPr>
          <p:cNvPr name="TextBox 5" id="5"/>
          <p:cNvSpPr txBox="true"/>
          <p:nvPr/>
        </p:nvSpPr>
        <p:spPr>
          <a:xfrm rot="0">
            <a:off x="1619535" y="5153025"/>
            <a:ext cx="8524492" cy="1504615"/>
          </a:xfrm>
          <a:prstGeom prst="rect">
            <a:avLst/>
          </a:prstGeom>
        </p:spPr>
        <p:txBody>
          <a:bodyPr anchor="t" rtlCol="false" tIns="0" lIns="0" bIns="0" rIns="0">
            <a:spAutoFit/>
          </a:bodyPr>
          <a:lstStyle/>
          <a:p>
            <a:pPr algn="l" marL="0" indent="0" lvl="0">
              <a:lnSpc>
                <a:spcPts val="3994"/>
              </a:lnSpc>
            </a:pPr>
            <a:r>
              <a:rPr lang="en-US" sz="3328">
                <a:solidFill>
                  <a:srgbClr val="2E3127"/>
                </a:solidFill>
                <a:latin typeface="Source Serif Pro"/>
                <a:ea typeface="Source Serif Pro"/>
                <a:cs typeface="Source Serif Pro"/>
                <a:sym typeface="Source Serif Pro"/>
              </a:rPr>
              <a:t>Pembuatan aplikasi monitoring stok di kafe BdiM sebagai solusi untuk mempermudah pengelolaan stok bahan baku.</a:t>
            </a:r>
          </a:p>
        </p:txBody>
      </p:sp>
      <p:grpSp>
        <p:nvGrpSpPr>
          <p:cNvPr name="Group 6" id="6"/>
          <p:cNvGrpSpPr/>
          <p:nvPr/>
        </p:nvGrpSpPr>
        <p:grpSpPr>
          <a:xfrm rot="0">
            <a:off x="11202896" y="2516593"/>
            <a:ext cx="5465570" cy="5578537"/>
            <a:chOff x="0" y="0"/>
            <a:chExt cx="7287426" cy="7438049"/>
          </a:xfrm>
        </p:grpSpPr>
        <p:pic>
          <p:nvPicPr>
            <p:cNvPr name="Picture 7" id="7"/>
            <p:cNvPicPr>
              <a:picLocks noChangeAspect="true"/>
            </p:cNvPicPr>
            <p:nvPr/>
          </p:nvPicPr>
          <p:blipFill>
            <a:blip r:embed="rId3"/>
            <a:srcRect l="17362" t="0" r="17362" b="0"/>
            <a:stretch>
              <a:fillRect/>
            </a:stretch>
          </p:blipFill>
          <p:spPr>
            <a:xfrm flipH="false" flipV="false">
              <a:off x="0" y="0"/>
              <a:ext cx="7287426" cy="7438049"/>
            </a:xfrm>
            <a:prstGeom prst="rect">
              <a:avLst/>
            </a:prstGeom>
          </p:spPr>
        </p:pic>
      </p:grpSp>
      <p:sp>
        <p:nvSpPr>
          <p:cNvPr name="TextBox 8" id="8"/>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51" r="0" b="-12851"/>
            </a:stretch>
          </a:blipFill>
        </p:spPr>
      </p:sp>
      <p:sp>
        <p:nvSpPr>
          <p:cNvPr name="TextBox 3" id="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07</a:t>
            </a:r>
          </a:p>
        </p:txBody>
      </p:sp>
      <p:grpSp>
        <p:nvGrpSpPr>
          <p:cNvPr name="Group 4" id="4"/>
          <p:cNvGrpSpPr/>
          <p:nvPr/>
        </p:nvGrpSpPr>
        <p:grpSpPr>
          <a:xfrm rot="0">
            <a:off x="331048" y="4301985"/>
            <a:ext cx="5589578" cy="5316454"/>
            <a:chOff x="0" y="0"/>
            <a:chExt cx="1245050" cy="1184213"/>
          </a:xfrm>
        </p:grpSpPr>
        <p:sp>
          <p:nvSpPr>
            <p:cNvPr name="Freeform 5" id="5"/>
            <p:cNvSpPr/>
            <p:nvPr/>
          </p:nvSpPr>
          <p:spPr>
            <a:xfrm flipH="false" flipV="false" rot="0">
              <a:off x="0" y="0"/>
              <a:ext cx="1245050" cy="1184213"/>
            </a:xfrm>
            <a:custGeom>
              <a:avLst/>
              <a:gdLst/>
              <a:ahLst/>
              <a:cxnLst/>
              <a:rect r="r" b="b" t="t" l="l"/>
              <a:pathLst>
                <a:path h="1184213" w="1245050">
                  <a:moveTo>
                    <a:pt x="54017" y="0"/>
                  </a:moveTo>
                  <a:lnTo>
                    <a:pt x="1191032" y="0"/>
                  </a:lnTo>
                  <a:cubicBezTo>
                    <a:pt x="1205359" y="0"/>
                    <a:pt x="1219098" y="5691"/>
                    <a:pt x="1229228" y="15821"/>
                  </a:cubicBezTo>
                  <a:cubicBezTo>
                    <a:pt x="1239359" y="25952"/>
                    <a:pt x="1245050" y="39691"/>
                    <a:pt x="1245050" y="54017"/>
                  </a:cubicBezTo>
                  <a:lnTo>
                    <a:pt x="1245050" y="1130195"/>
                  </a:lnTo>
                  <a:cubicBezTo>
                    <a:pt x="1245050" y="1144522"/>
                    <a:pt x="1239359" y="1158261"/>
                    <a:pt x="1229228" y="1168392"/>
                  </a:cubicBezTo>
                  <a:cubicBezTo>
                    <a:pt x="1219098" y="1178522"/>
                    <a:pt x="1205359" y="1184213"/>
                    <a:pt x="1191032" y="1184213"/>
                  </a:cubicBezTo>
                  <a:lnTo>
                    <a:pt x="54017" y="1184213"/>
                  </a:lnTo>
                  <a:cubicBezTo>
                    <a:pt x="24184" y="1184213"/>
                    <a:pt x="0" y="1160028"/>
                    <a:pt x="0" y="1130195"/>
                  </a:cubicBezTo>
                  <a:lnTo>
                    <a:pt x="0" y="54017"/>
                  </a:lnTo>
                  <a:cubicBezTo>
                    <a:pt x="0" y="39691"/>
                    <a:pt x="5691" y="25952"/>
                    <a:pt x="15821" y="15821"/>
                  </a:cubicBezTo>
                  <a:cubicBezTo>
                    <a:pt x="25952" y="5691"/>
                    <a:pt x="39691" y="0"/>
                    <a:pt x="54017" y="0"/>
                  </a:cubicBezTo>
                  <a:close/>
                </a:path>
              </a:pathLst>
            </a:custGeom>
            <a:solidFill>
              <a:srgbClr val="000000">
                <a:alpha val="0"/>
              </a:srgbClr>
            </a:solidFill>
            <a:ln w="19050" cap="rnd">
              <a:solidFill>
                <a:srgbClr val="000000"/>
              </a:solidFill>
              <a:prstDash val="solid"/>
              <a:round/>
            </a:ln>
          </p:spPr>
        </p:sp>
        <p:sp>
          <p:nvSpPr>
            <p:cNvPr name="TextBox 6" id="6"/>
            <p:cNvSpPr txBox="true"/>
            <p:nvPr/>
          </p:nvSpPr>
          <p:spPr>
            <a:xfrm>
              <a:off x="0" y="0"/>
              <a:ext cx="1245050" cy="1184213"/>
            </a:xfrm>
            <a:prstGeom prst="rect">
              <a:avLst/>
            </a:prstGeom>
          </p:spPr>
          <p:txBody>
            <a:bodyPr anchor="ctr" rtlCol="false" tIns="50800" lIns="50800" bIns="50800" rIns="50800"/>
            <a:lstStyle/>
            <a:p>
              <a:pPr algn="ctr">
                <a:lnSpc>
                  <a:spcPts val="3024"/>
                </a:lnSpc>
              </a:pPr>
            </a:p>
          </p:txBody>
        </p:sp>
      </p:grpSp>
      <p:grpSp>
        <p:nvGrpSpPr>
          <p:cNvPr name="Group 7" id="7"/>
          <p:cNvGrpSpPr/>
          <p:nvPr/>
        </p:nvGrpSpPr>
        <p:grpSpPr>
          <a:xfrm rot="0">
            <a:off x="6349211" y="4301985"/>
            <a:ext cx="5589578" cy="5316454"/>
            <a:chOff x="0" y="0"/>
            <a:chExt cx="1245050" cy="1184213"/>
          </a:xfrm>
        </p:grpSpPr>
        <p:sp>
          <p:nvSpPr>
            <p:cNvPr name="Freeform 8" id="8"/>
            <p:cNvSpPr/>
            <p:nvPr/>
          </p:nvSpPr>
          <p:spPr>
            <a:xfrm flipH="false" flipV="false" rot="0">
              <a:off x="0" y="0"/>
              <a:ext cx="1245050" cy="1184213"/>
            </a:xfrm>
            <a:custGeom>
              <a:avLst/>
              <a:gdLst/>
              <a:ahLst/>
              <a:cxnLst/>
              <a:rect r="r" b="b" t="t" l="l"/>
              <a:pathLst>
                <a:path h="1184213" w="1245050">
                  <a:moveTo>
                    <a:pt x="54017" y="0"/>
                  </a:moveTo>
                  <a:lnTo>
                    <a:pt x="1191032" y="0"/>
                  </a:lnTo>
                  <a:cubicBezTo>
                    <a:pt x="1205359" y="0"/>
                    <a:pt x="1219098" y="5691"/>
                    <a:pt x="1229228" y="15821"/>
                  </a:cubicBezTo>
                  <a:cubicBezTo>
                    <a:pt x="1239359" y="25952"/>
                    <a:pt x="1245050" y="39691"/>
                    <a:pt x="1245050" y="54017"/>
                  </a:cubicBezTo>
                  <a:lnTo>
                    <a:pt x="1245050" y="1130195"/>
                  </a:lnTo>
                  <a:cubicBezTo>
                    <a:pt x="1245050" y="1144522"/>
                    <a:pt x="1239359" y="1158261"/>
                    <a:pt x="1229228" y="1168392"/>
                  </a:cubicBezTo>
                  <a:cubicBezTo>
                    <a:pt x="1219098" y="1178522"/>
                    <a:pt x="1205359" y="1184213"/>
                    <a:pt x="1191032" y="1184213"/>
                  </a:cubicBezTo>
                  <a:lnTo>
                    <a:pt x="54017" y="1184213"/>
                  </a:lnTo>
                  <a:cubicBezTo>
                    <a:pt x="24184" y="1184213"/>
                    <a:pt x="0" y="1160028"/>
                    <a:pt x="0" y="1130195"/>
                  </a:cubicBezTo>
                  <a:lnTo>
                    <a:pt x="0" y="54017"/>
                  </a:lnTo>
                  <a:cubicBezTo>
                    <a:pt x="0" y="39691"/>
                    <a:pt x="5691" y="25952"/>
                    <a:pt x="15821" y="15821"/>
                  </a:cubicBezTo>
                  <a:cubicBezTo>
                    <a:pt x="25952" y="5691"/>
                    <a:pt x="39691" y="0"/>
                    <a:pt x="54017" y="0"/>
                  </a:cubicBezTo>
                  <a:close/>
                </a:path>
              </a:pathLst>
            </a:custGeom>
            <a:solidFill>
              <a:srgbClr val="000000">
                <a:alpha val="0"/>
              </a:srgbClr>
            </a:solidFill>
            <a:ln w="19050" cap="rnd">
              <a:solidFill>
                <a:srgbClr val="000000"/>
              </a:solidFill>
              <a:prstDash val="solid"/>
              <a:round/>
            </a:ln>
          </p:spPr>
        </p:sp>
        <p:sp>
          <p:nvSpPr>
            <p:cNvPr name="TextBox 9" id="9"/>
            <p:cNvSpPr txBox="true"/>
            <p:nvPr/>
          </p:nvSpPr>
          <p:spPr>
            <a:xfrm>
              <a:off x="0" y="0"/>
              <a:ext cx="1245050" cy="1184213"/>
            </a:xfrm>
            <a:prstGeom prst="rect">
              <a:avLst/>
            </a:prstGeom>
          </p:spPr>
          <p:txBody>
            <a:bodyPr anchor="ctr" rtlCol="false" tIns="50800" lIns="50800" bIns="50800" rIns="50800"/>
            <a:lstStyle/>
            <a:p>
              <a:pPr algn="ctr">
                <a:lnSpc>
                  <a:spcPts val="3024"/>
                </a:lnSpc>
              </a:pPr>
            </a:p>
          </p:txBody>
        </p:sp>
      </p:grpSp>
      <p:sp>
        <p:nvSpPr>
          <p:cNvPr name="TextBox 10" id="10"/>
          <p:cNvSpPr txBox="true"/>
          <p:nvPr/>
        </p:nvSpPr>
        <p:spPr>
          <a:xfrm rot="0">
            <a:off x="3351903" y="590439"/>
            <a:ext cx="11584195" cy="2079626"/>
          </a:xfrm>
          <a:prstGeom prst="rect">
            <a:avLst/>
          </a:prstGeom>
        </p:spPr>
        <p:txBody>
          <a:bodyPr anchor="t" rtlCol="false" tIns="0" lIns="0" bIns="0" rIns="0">
            <a:spAutoFit/>
          </a:bodyPr>
          <a:lstStyle/>
          <a:p>
            <a:pPr algn="ctr" marL="0" indent="0" lvl="0">
              <a:lnSpc>
                <a:spcPts val="8000"/>
              </a:lnSpc>
            </a:pPr>
            <a:r>
              <a:rPr lang="en-US" b="true" sz="8000">
                <a:solidFill>
                  <a:srgbClr val="2E3127"/>
                </a:solidFill>
                <a:latin typeface="Cinzel Bold"/>
                <a:ea typeface="Cinzel Bold"/>
                <a:cs typeface="Cinzel Bold"/>
                <a:sym typeface="Cinzel Bold"/>
              </a:rPr>
              <a:t>ANALISIS PERMASALAHAN</a:t>
            </a:r>
          </a:p>
        </p:txBody>
      </p:sp>
      <p:grpSp>
        <p:nvGrpSpPr>
          <p:cNvPr name="Group 11" id="11"/>
          <p:cNvGrpSpPr/>
          <p:nvPr/>
        </p:nvGrpSpPr>
        <p:grpSpPr>
          <a:xfrm rot="0">
            <a:off x="12367374" y="4301985"/>
            <a:ext cx="5589578" cy="5316454"/>
            <a:chOff x="0" y="0"/>
            <a:chExt cx="1245050" cy="1184213"/>
          </a:xfrm>
        </p:grpSpPr>
        <p:sp>
          <p:nvSpPr>
            <p:cNvPr name="Freeform 12" id="12"/>
            <p:cNvSpPr/>
            <p:nvPr/>
          </p:nvSpPr>
          <p:spPr>
            <a:xfrm flipH="false" flipV="false" rot="0">
              <a:off x="0" y="0"/>
              <a:ext cx="1245050" cy="1184213"/>
            </a:xfrm>
            <a:custGeom>
              <a:avLst/>
              <a:gdLst/>
              <a:ahLst/>
              <a:cxnLst/>
              <a:rect r="r" b="b" t="t" l="l"/>
              <a:pathLst>
                <a:path h="1184213" w="1245050">
                  <a:moveTo>
                    <a:pt x="54017" y="0"/>
                  </a:moveTo>
                  <a:lnTo>
                    <a:pt x="1191032" y="0"/>
                  </a:lnTo>
                  <a:cubicBezTo>
                    <a:pt x="1205359" y="0"/>
                    <a:pt x="1219098" y="5691"/>
                    <a:pt x="1229228" y="15821"/>
                  </a:cubicBezTo>
                  <a:cubicBezTo>
                    <a:pt x="1239359" y="25952"/>
                    <a:pt x="1245050" y="39691"/>
                    <a:pt x="1245050" y="54017"/>
                  </a:cubicBezTo>
                  <a:lnTo>
                    <a:pt x="1245050" y="1130195"/>
                  </a:lnTo>
                  <a:cubicBezTo>
                    <a:pt x="1245050" y="1144522"/>
                    <a:pt x="1239359" y="1158261"/>
                    <a:pt x="1229228" y="1168392"/>
                  </a:cubicBezTo>
                  <a:cubicBezTo>
                    <a:pt x="1219098" y="1178522"/>
                    <a:pt x="1205359" y="1184213"/>
                    <a:pt x="1191032" y="1184213"/>
                  </a:cubicBezTo>
                  <a:lnTo>
                    <a:pt x="54017" y="1184213"/>
                  </a:lnTo>
                  <a:cubicBezTo>
                    <a:pt x="24184" y="1184213"/>
                    <a:pt x="0" y="1160028"/>
                    <a:pt x="0" y="1130195"/>
                  </a:cubicBezTo>
                  <a:lnTo>
                    <a:pt x="0" y="54017"/>
                  </a:lnTo>
                  <a:cubicBezTo>
                    <a:pt x="0" y="39691"/>
                    <a:pt x="5691" y="25952"/>
                    <a:pt x="15821" y="15821"/>
                  </a:cubicBezTo>
                  <a:cubicBezTo>
                    <a:pt x="25952" y="5691"/>
                    <a:pt x="39691" y="0"/>
                    <a:pt x="54017" y="0"/>
                  </a:cubicBezTo>
                  <a:close/>
                </a:path>
              </a:pathLst>
            </a:custGeom>
            <a:solidFill>
              <a:srgbClr val="000000">
                <a:alpha val="0"/>
              </a:srgbClr>
            </a:solidFill>
            <a:ln w="19050" cap="rnd">
              <a:solidFill>
                <a:srgbClr val="000000"/>
              </a:solidFill>
              <a:prstDash val="solid"/>
              <a:round/>
            </a:ln>
          </p:spPr>
        </p:sp>
        <p:sp>
          <p:nvSpPr>
            <p:cNvPr name="TextBox 13" id="13"/>
            <p:cNvSpPr txBox="true"/>
            <p:nvPr/>
          </p:nvSpPr>
          <p:spPr>
            <a:xfrm>
              <a:off x="0" y="0"/>
              <a:ext cx="1245050" cy="1184213"/>
            </a:xfrm>
            <a:prstGeom prst="rect">
              <a:avLst/>
            </a:prstGeom>
          </p:spPr>
          <p:txBody>
            <a:bodyPr anchor="ctr" rtlCol="false" tIns="50800" lIns="50800" bIns="50800" rIns="50800"/>
            <a:lstStyle/>
            <a:p>
              <a:pPr algn="ctr">
                <a:lnSpc>
                  <a:spcPts val="3024"/>
                </a:lnSpc>
              </a:pPr>
            </a:p>
          </p:txBody>
        </p:sp>
      </p:grpSp>
      <p:sp>
        <p:nvSpPr>
          <p:cNvPr name="TextBox 14" id="14"/>
          <p:cNvSpPr txBox="true"/>
          <p:nvPr/>
        </p:nvSpPr>
        <p:spPr>
          <a:xfrm rot="0">
            <a:off x="944330" y="4080623"/>
            <a:ext cx="4363015" cy="518925"/>
          </a:xfrm>
          <a:prstGeom prst="rect">
            <a:avLst/>
          </a:prstGeom>
        </p:spPr>
        <p:txBody>
          <a:bodyPr anchor="t" rtlCol="false" tIns="0" lIns="0" bIns="0" rIns="0">
            <a:spAutoFit/>
          </a:bodyPr>
          <a:lstStyle/>
          <a:p>
            <a:pPr algn="l" marL="0" indent="0" lvl="0">
              <a:lnSpc>
                <a:spcPts val="3948"/>
              </a:lnSpc>
            </a:pPr>
            <a:r>
              <a:rPr lang="en-US" b="true" sz="3948">
                <a:solidFill>
                  <a:srgbClr val="2E3127"/>
                </a:solidFill>
                <a:latin typeface="Cinzel Bold"/>
                <a:ea typeface="Cinzel Bold"/>
                <a:cs typeface="Cinzel Bold"/>
                <a:sym typeface="Cinzel Bold"/>
              </a:rPr>
              <a:t>aspek ekonomis</a:t>
            </a:r>
          </a:p>
        </p:txBody>
      </p:sp>
      <p:sp>
        <p:nvSpPr>
          <p:cNvPr name="TextBox 15" id="15"/>
          <p:cNvSpPr txBox="true"/>
          <p:nvPr/>
        </p:nvSpPr>
        <p:spPr>
          <a:xfrm rot="0">
            <a:off x="6659617" y="3780942"/>
            <a:ext cx="4968767" cy="891332"/>
          </a:xfrm>
          <a:prstGeom prst="rect">
            <a:avLst/>
          </a:prstGeom>
        </p:spPr>
        <p:txBody>
          <a:bodyPr anchor="t" rtlCol="false" tIns="0" lIns="0" bIns="0" rIns="0">
            <a:spAutoFit/>
          </a:bodyPr>
          <a:lstStyle/>
          <a:p>
            <a:pPr algn="ctr" marL="0" indent="0" lvl="0">
              <a:lnSpc>
                <a:spcPts val="3428"/>
              </a:lnSpc>
            </a:pPr>
            <a:r>
              <a:rPr lang="en-US" b="true" sz="3428">
                <a:solidFill>
                  <a:srgbClr val="2E3127"/>
                </a:solidFill>
                <a:latin typeface="Cinzel Bold"/>
                <a:ea typeface="Cinzel Bold"/>
                <a:cs typeface="Cinzel Bold"/>
                <a:sym typeface="Cinzel Bold"/>
              </a:rPr>
              <a:t>aspek Manufakturabilitas</a:t>
            </a:r>
          </a:p>
        </p:txBody>
      </p:sp>
      <p:sp>
        <p:nvSpPr>
          <p:cNvPr name="TextBox 16" id="16"/>
          <p:cNvSpPr txBox="true"/>
          <p:nvPr/>
        </p:nvSpPr>
        <p:spPr>
          <a:xfrm rot="0">
            <a:off x="12980655" y="3758510"/>
            <a:ext cx="4363015" cy="936197"/>
          </a:xfrm>
          <a:prstGeom prst="rect">
            <a:avLst/>
          </a:prstGeom>
        </p:spPr>
        <p:txBody>
          <a:bodyPr anchor="t" rtlCol="false" tIns="0" lIns="0" bIns="0" rIns="0">
            <a:spAutoFit/>
          </a:bodyPr>
          <a:lstStyle/>
          <a:p>
            <a:pPr algn="ctr" marL="0" indent="0" lvl="0">
              <a:lnSpc>
                <a:spcPts val="3636"/>
              </a:lnSpc>
            </a:pPr>
            <a:r>
              <a:rPr lang="en-US" b="true" sz="3636">
                <a:solidFill>
                  <a:srgbClr val="2E3127"/>
                </a:solidFill>
                <a:latin typeface="Cinzel Bold"/>
                <a:ea typeface="Cinzel Bold"/>
                <a:cs typeface="Cinzel Bold"/>
                <a:sym typeface="Cinzel Bold"/>
              </a:rPr>
              <a:t>aspek Sustainibilitas</a:t>
            </a:r>
          </a:p>
        </p:txBody>
      </p:sp>
      <p:sp>
        <p:nvSpPr>
          <p:cNvPr name="TextBox 17" id="17"/>
          <p:cNvSpPr txBox="true"/>
          <p:nvPr/>
        </p:nvSpPr>
        <p:spPr>
          <a:xfrm rot="0">
            <a:off x="6696521" y="4961910"/>
            <a:ext cx="4894959" cy="4443730"/>
          </a:xfrm>
          <a:prstGeom prst="rect">
            <a:avLst/>
          </a:prstGeom>
        </p:spPr>
        <p:txBody>
          <a:bodyPr anchor="t" rtlCol="false" tIns="0" lIns="0" bIns="0" rIns="0">
            <a:spAutoFit/>
          </a:bodyPr>
          <a:lstStyle/>
          <a:p>
            <a:pPr algn="l">
              <a:lnSpc>
                <a:spcPts val="3919"/>
              </a:lnSpc>
            </a:pPr>
            <a:r>
              <a:rPr lang="en-US" sz="2799">
                <a:solidFill>
                  <a:srgbClr val="2E3127"/>
                </a:solidFill>
                <a:latin typeface="Source Serif Pro"/>
                <a:ea typeface="Source Serif Pro"/>
                <a:cs typeface="Source Serif Pro"/>
                <a:sym typeface="Source Serif Pro"/>
              </a:rPr>
              <a:t>Aplikasi monitoring stok di kafe BdiM dibangun dan dikembangkan menggunakan:</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Visual Studio Code</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Figma</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Laravel</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XAMPP</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Bootstrap</a:t>
            </a:r>
          </a:p>
          <a:p>
            <a:pPr algn="l" marL="604519" indent="-302260" lvl="1">
              <a:lnSpc>
                <a:spcPts val="3919"/>
              </a:lnSpc>
              <a:buAutoNum type="arabicPeriod" startAt="1"/>
            </a:pPr>
            <a:r>
              <a:rPr lang="en-US" sz="2799">
                <a:solidFill>
                  <a:srgbClr val="2E3127"/>
                </a:solidFill>
                <a:latin typeface="Source Serif Pro"/>
                <a:ea typeface="Source Serif Pro"/>
                <a:cs typeface="Source Serif Pro"/>
                <a:sym typeface="Source Serif Pro"/>
              </a:rPr>
              <a:t>MySQL</a:t>
            </a:r>
          </a:p>
        </p:txBody>
      </p:sp>
      <p:sp>
        <p:nvSpPr>
          <p:cNvPr name="TextBox 18" id="18"/>
          <p:cNvSpPr txBox="true"/>
          <p:nvPr/>
        </p:nvSpPr>
        <p:spPr>
          <a:xfrm rot="0">
            <a:off x="12714683" y="5952510"/>
            <a:ext cx="4894959" cy="2462530"/>
          </a:xfrm>
          <a:prstGeom prst="rect">
            <a:avLst/>
          </a:prstGeom>
        </p:spPr>
        <p:txBody>
          <a:bodyPr anchor="t" rtlCol="false" tIns="0" lIns="0" bIns="0" rIns="0">
            <a:spAutoFit/>
          </a:bodyPr>
          <a:lstStyle/>
          <a:p>
            <a:pPr algn="ctr">
              <a:lnSpc>
                <a:spcPts val="3919"/>
              </a:lnSpc>
            </a:pPr>
            <a:r>
              <a:rPr lang="en-US" sz="2799">
                <a:solidFill>
                  <a:srgbClr val="2E3127"/>
                </a:solidFill>
                <a:latin typeface="Source Serif Pro"/>
                <a:ea typeface="Source Serif Pro"/>
                <a:cs typeface="Source Serif Pro"/>
                <a:sym typeface="Source Serif Pro"/>
              </a:rPr>
              <a:t>Secara sustainibilitas, aplikasi ini sudah dikembangkan menggunakan teknologi terbaru, yaitu Laravel versi 10.10 dan PHP versi 8.3</a:t>
            </a:r>
          </a:p>
        </p:txBody>
      </p:sp>
      <p:sp>
        <p:nvSpPr>
          <p:cNvPr name="TextBox 19" id="19"/>
          <p:cNvSpPr txBox="true"/>
          <p:nvPr/>
        </p:nvSpPr>
        <p:spPr>
          <a:xfrm rot="0">
            <a:off x="682727" y="5457210"/>
            <a:ext cx="4894959" cy="3453130"/>
          </a:xfrm>
          <a:prstGeom prst="rect">
            <a:avLst/>
          </a:prstGeom>
        </p:spPr>
        <p:txBody>
          <a:bodyPr anchor="t" rtlCol="false" tIns="0" lIns="0" bIns="0" rIns="0">
            <a:spAutoFit/>
          </a:bodyPr>
          <a:lstStyle/>
          <a:p>
            <a:pPr algn="ctr">
              <a:lnSpc>
                <a:spcPts val="3919"/>
              </a:lnSpc>
            </a:pPr>
            <a:r>
              <a:rPr lang="en-US" sz="2799">
                <a:solidFill>
                  <a:srgbClr val="2E3127"/>
                </a:solidFill>
                <a:latin typeface="Source Serif Pro"/>
                <a:ea typeface="Source Serif Pro"/>
                <a:cs typeface="Source Serif Pro"/>
                <a:sym typeface="Source Serif Pro"/>
              </a:rPr>
              <a:t>Biaya infrastruktur untuk pemeliharaan aplikasi monitoring stok sudah dipertimbangkan agar dapat menekan biaya pengeluaran serta mendapat hasil yang maksimal.  </a:t>
            </a:r>
          </a:p>
        </p:txBody>
      </p:sp>
      <p:sp>
        <p:nvSpPr>
          <p:cNvPr name="TextBox 20" id="20"/>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21453" t="-52761" r="0" b="0"/>
            </a:stretch>
          </a:blipFill>
        </p:spPr>
      </p:sp>
      <p:sp>
        <p:nvSpPr>
          <p:cNvPr name="TextBox 3" id="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08</a:t>
            </a:r>
          </a:p>
        </p:txBody>
      </p:sp>
      <p:grpSp>
        <p:nvGrpSpPr>
          <p:cNvPr name="Group 4" id="4"/>
          <p:cNvGrpSpPr/>
          <p:nvPr/>
        </p:nvGrpSpPr>
        <p:grpSpPr>
          <a:xfrm rot="0">
            <a:off x="-1535201" y="2707466"/>
            <a:ext cx="10419396" cy="4872069"/>
            <a:chOff x="0" y="0"/>
            <a:chExt cx="2744203" cy="1283179"/>
          </a:xfrm>
        </p:grpSpPr>
        <p:sp>
          <p:nvSpPr>
            <p:cNvPr name="Freeform 5" id="5"/>
            <p:cNvSpPr/>
            <p:nvPr/>
          </p:nvSpPr>
          <p:spPr>
            <a:xfrm flipH="false" flipV="false" rot="0">
              <a:off x="0" y="0"/>
              <a:ext cx="2744203" cy="1283179"/>
            </a:xfrm>
            <a:custGeom>
              <a:avLst/>
              <a:gdLst/>
              <a:ahLst/>
              <a:cxnLst/>
              <a:rect r="r" b="b" t="t" l="l"/>
              <a:pathLst>
                <a:path h="1283179" w="2744203">
                  <a:moveTo>
                    <a:pt x="31950" y="0"/>
                  </a:moveTo>
                  <a:lnTo>
                    <a:pt x="2712253" y="0"/>
                  </a:lnTo>
                  <a:cubicBezTo>
                    <a:pt x="2729899" y="0"/>
                    <a:pt x="2744203" y="14305"/>
                    <a:pt x="2744203" y="31950"/>
                  </a:cubicBezTo>
                  <a:lnTo>
                    <a:pt x="2744203" y="1251228"/>
                  </a:lnTo>
                  <a:cubicBezTo>
                    <a:pt x="2744203" y="1268874"/>
                    <a:pt x="2729899" y="1283179"/>
                    <a:pt x="2712253" y="1283179"/>
                  </a:cubicBezTo>
                  <a:lnTo>
                    <a:pt x="31950" y="1283179"/>
                  </a:lnTo>
                  <a:cubicBezTo>
                    <a:pt x="14305" y="1283179"/>
                    <a:pt x="0" y="1268874"/>
                    <a:pt x="0" y="1251228"/>
                  </a:cubicBezTo>
                  <a:lnTo>
                    <a:pt x="0" y="31950"/>
                  </a:lnTo>
                  <a:cubicBezTo>
                    <a:pt x="0" y="14305"/>
                    <a:pt x="14305" y="0"/>
                    <a:pt x="31950" y="0"/>
                  </a:cubicBezTo>
                  <a:close/>
                </a:path>
              </a:pathLst>
            </a:custGeom>
            <a:solidFill>
              <a:srgbClr val="000000">
                <a:alpha val="0"/>
              </a:srgbClr>
            </a:solidFill>
            <a:ln w="28575" cap="rnd">
              <a:solidFill>
                <a:srgbClr val="000000"/>
              </a:solidFill>
              <a:prstDash val="solid"/>
              <a:round/>
            </a:ln>
          </p:spPr>
        </p:sp>
        <p:sp>
          <p:nvSpPr>
            <p:cNvPr name="TextBox 6" id="6"/>
            <p:cNvSpPr txBox="true"/>
            <p:nvPr/>
          </p:nvSpPr>
          <p:spPr>
            <a:xfrm>
              <a:off x="0" y="0"/>
              <a:ext cx="2744203" cy="1283179"/>
            </a:xfrm>
            <a:prstGeom prst="rect">
              <a:avLst/>
            </a:prstGeom>
          </p:spPr>
          <p:txBody>
            <a:bodyPr anchor="ctr" rtlCol="false" tIns="50800" lIns="50800" bIns="50800" rIns="50800"/>
            <a:lstStyle/>
            <a:p>
              <a:pPr algn="ctr">
                <a:lnSpc>
                  <a:spcPts val="3024"/>
                </a:lnSpc>
              </a:pPr>
            </a:p>
          </p:txBody>
        </p:sp>
      </p:grpSp>
      <p:sp>
        <p:nvSpPr>
          <p:cNvPr name="TextBox 7" id="7"/>
          <p:cNvSpPr txBox="true"/>
          <p:nvPr/>
        </p:nvSpPr>
        <p:spPr>
          <a:xfrm rot="0">
            <a:off x="487465" y="3723993"/>
            <a:ext cx="7683035" cy="1816460"/>
          </a:xfrm>
          <a:prstGeom prst="rect">
            <a:avLst/>
          </a:prstGeom>
        </p:spPr>
        <p:txBody>
          <a:bodyPr anchor="t" rtlCol="false" tIns="0" lIns="0" bIns="0" rIns="0">
            <a:spAutoFit/>
          </a:bodyPr>
          <a:lstStyle/>
          <a:p>
            <a:pPr algn="ctr" marL="0" indent="0" lvl="0">
              <a:lnSpc>
                <a:spcPts val="7014"/>
              </a:lnSpc>
            </a:pPr>
            <a:r>
              <a:rPr lang="en-US" b="true" sz="7014">
                <a:solidFill>
                  <a:srgbClr val="2E3127"/>
                </a:solidFill>
                <a:latin typeface="Cinzel Bold"/>
                <a:ea typeface="Cinzel Bold"/>
                <a:cs typeface="Cinzel Bold"/>
                <a:sym typeface="Cinzel Bold"/>
              </a:rPr>
              <a:t>KARAKTERISTIK PRODUK</a:t>
            </a:r>
          </a:p>
        </p:txBody>
      </p:sp>
      <p:sp>
        <p:nvSpPr>
          <p:cNvPr name="TextBox 8" id="8"/>
          <p:cNvSpPr txBox="true"/>
          <p:nvPr/>
        </p:nvSpPr>
        <p:spPr>
          <a:xfrm rot="0">
            <a:off x="487465" y="5689465"/>
            <a:ext cx="7683035" cy="1066800"/>
          </a:xfrm>
          <a:prstGeom prst="rect">
            <a:avLst/>
          </a:prstGeom>
        </p:spPr>
        <p:txBody>
          <a:bodyPr anchor="t" rtlCol="false" tIns="0" lIns="0" bIns="0" rIns="0">
            <a:spAutoFit/>
          </a:bodyPr>
          <a:lstStyle/>
          <a:p>
            <a:pPr algn="l" marL="0" indent="0" lvl="0">
              <a:lnSpc>
                <a:spcPts val="2824"/>
              </a:lnSpc>
            </a:pPr>
            <a:r>
              <a:rPr lang="en-US" sz="2354">
                <a:solidFill>
                  <a:srgbClr val="2E3127"/>
                </a:solidFill>
                <a:latin typeface="Source Serif Pro"/>
                <a:ea typeface="Source Serif Pro"/>
                <a:cs typeface="Source Serif Pro"/>
                <a:sym typeface="Source Serif Pro"/>
              </a:rPr>
              <a:t>Dibuat berbasis  web  dan dirancang untuk meningkatkan efisiensi operasional dan meminimalkan kesalahan dalam pengelolaan stok</a:t>
            </a:r>
          </a:p>
        </p:txBody>
      </p:sp>
      <p:sp>
        <p:nvSpPr>
          <p:cNvPr name="TextBox 9" id="9"/>
          <p:cNvSpPr txBox="true"/>
          <p:nvPr/>
        </p:nvSpPr>
        <p:spPr>
          <a:xfrm rot="0">
            <a:off x="9144000" y="3894585"/>
            <a:ext cx="8427070" cy="2497830"/>
          </a:xfrm>
          <a:prstGeom prst="rect">
            <a:avLst/>
          </a:prstGeom>
        </p:spPr>
        <p:txBody>
          <a:bodyPr anchor="t" rtlCol="false" tIns="0" lIns="0" bIns="0" rIns="0">
            <a:spAutoFit/>
          </a:bodyPr>
          <a:lstStyle/>
          <a:p>
            <a:pPr algn="l" marL="720586" indent="-360293" lvl="1">
              <a:lnSpc>
                <a:spcPts val="4005"/>
              </a:lnSpc>
              <a:buAutoNum type="arabicPeriod" startAt="1"/>
            </a:pPr>
            <a:r>
              <a:rPr lang="en-US" sz="3337">
                <a:solidFill>
                  <a:srgbClr val="2E3127"/>
                </a:solidFill>
                <a:latin typeface="Source Serif Pro"/>
                <a:ea typeface="Source Serif Pro"/>
                <a:cs typeface="Source Serif Pro"/>
                <a:sym typeface="Source Serif Pro"/>
              </a:rPr>
              <a:t>Antarmuka pengguna yang intuitif</a:t>
            </a:r>
          </a:p>
          <a:p>
            <a:pPr algn="l" marL="720586" indent="-360293" lvl="1">
              <a:lnSpc>
                <a:spcPts val="4005"/>
              </a:lnSpc>
              <a:buAutoNum type="arabicPeriod" startAt="1"/>
            </a:pPr>
            <a:r>
              <a:rPr lang="en-US" sz="3337">
                <a:solidFill>
                  <a:srgbClr val="2E3127"/>
                </a:solidFill>
                <a:latin typeface="Source Serif Pro"/>
                <a:ea typeface="Source Serif Pro"/>
                <a:cs typeface="Source Serif Pro"/>
                <a:sym typeface="Source Serif Pro"/>
              </a:rPr>
              <a:t> Sistem Multi-Role</a:t>
            </a:r>
          </a:p>
          <a:p>
            <a:pPr algn="l" marL="720586" indent="-360293" lvl="1">
              <a:lnSpc>
                <a:spcPts val="4005"/>
              </a:lnSpc>
              <a:buAutoNum type="arabicPeriod" startAt="1"/>
            </a:pPr>
            <a:r>
              <a:rPr lang="en-US" sz="3337">
                <a:solidFill>
                  <a:srgbClr val="2E3127"/>
                </a:solidFill>
                <a:latin typeface="Source Serif Pro"/>
                <a:ea typeface="Source Serif Pro"/>
                <a:cs typeface="Source Serif Pro"/>
                <a:sym typeface="Source Serif Pro"/>
              </a:rPr>
              <a:t> Pencacatan Real-time</a:t>
            </a:r>
          </a:p>
          <a:p>
            <a:pPr algn="l" marL="720586" indent="-360293" lvl="1">
              <a:lnSpc>
                <a:spcPts val="4005"/>
              </a:lnSpc>
              <a:buAutoNum type="arabicPeriod" startAt="1"/>
            </a:pPr>
            <a:r>
              <a:rPr lang="en-US" sz="3337">
                <a:solidFill>
                  <a:srgbClr val="2E3127"/>
                </a:solidFill>
                <a:latin typeface="Source Serif Pro"/>
                <a:ea typeface="Source Serif Pro"/>
                <a:cs typeface="Source Serif Pro"/>
                <a:sym typeface="Source Serif Pro"/>
              </a:rPr>
              <a:t> Pengelolaan inventaris yang efisien</a:t>
            </a:r>
          </a:p>
          <a:p>
            <a:pPr algn="l" marL="720586" indent="-360293" lvl="1">
              <a:lnSpc>
                <a:spcPts val="4005"/>
              </a:lnSpc>
              <a:buAutoNum type="arabicPeriod" startAt="1"/>
            </a:pPr>
            <a:r>
              <a:rPr lang="en-US" sz="3337">
                <a:solidFill>
                  <a:srgbClr val="2E3127"/>
                </a:solidFill>
                <a:latin typeface="Source Serif Pro"/>
                <a:ea typeface="Source Serif Pro"/>
                <a:cs typeface="Source Serif Pro"/>
                <a:sym typeface="Source Serif Pro"/>
              </a:rPr>
              <a:t> Laporan dan Analitik </a:t>
            </a:r>
          </a:p>
        </p:txBody>
      </p:sp>
      <p:sp>
        <p:nvSpPr>
          <p:cNvPr name="TextBox 10" id="10"/>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21453" t="-52761" r="0" b="0"/>
            </a:stretch>
          </a:blipFill>
        </p:spPr>
      </p:sp>
      <p:sp>
        <p:nvSpPr>
          <p:cNvPr name="AutoShape 3" id="3"/>
          <p:cNvSpPr/>
          <p:nvPr/>
        </p:nvSpPr>
        <p:spPr>
          <a:xfrm>
            <a:off x="190081" y="6090972"/>
            <a:ext cx="18199998"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77918" y="5899558"/>
            <a:ext cx="355557" cy="35555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 id="6"/>
            <p:cNvSpPr txBox="true"/>
            <p:nvPr/>
          </p:nvSpPr>
          <p:spPr>
            <a:xfrm>
              <a:off x="76200" y="76200"/>
              <a:ext cx="660400" cy="660400"/>
            </a:xfrm>
            <a:prstGeom prst="rect">
              <a:avLst/>
            </a:prstGeom>
          </p:spPr>
          <p:txBody>
            <a:bodyPr anchor="ctr" rtlCol="false" tIns="43391" lIns="43391" bIns="43391" rIns="43391"/>
            <a:lstStyle/>
            <a:p>
              <a:pPr algn="ctr">
                <a:lnSpc>
                  <a:spcPts val="3024"/>
                </a:lnSpc>
              </a:pPr>
            </a:p>
          </p:txBody>
        </p:sp>
      </p:grpSp>
      <p:grpSp>
        <p:nvGrpSpPr>
          <p:cNvPr name="Group 7" id="7"/>
          <p:cNvGrpSpPr/>
          <p:nvPr/>
        </p:nvGrpSpPr>
        <p:grpSpPr>
          <a:xfrm rot="0">
            <a:off x="6111323" y="5899558"/>
            <a:ext cx="355557" cy="35555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9" id="9"/>
            <p:cNvSpPr txBox="true"/>
            <p:nvPr/>
          </p:nvSpPr>
          <p:spPr>
            <a:xfrm>
              <a:off x="76200" y="76200"/>
              <a:ext cx="660400" cy="660400"/>
            </a:xfrm>
            <a:prstGeom prst="rect">
              <a:avLst/>
            </a:prstGeom>
          </p:spPr>
          <p:txBody>
            <a:bodyPr anchor="ctr" rtlCol="false" tIns="43391" lIns="43391" bIns="43391" rIns="43391"/>
            <a:lstStyle/>
            <a:p>
              <a:pPr algn="ctr">
                <a:lnSpc>
                  <a:spcPts val="3024"/>
                </a:lnSpc>
              </a:pPr>
            </a:p>
          </p:txBody>
        </p:sp>
      </p:grpSp>
      <p:grpSp>
        <p:nvGrpSpPr>
          <p:cNvPr name="Group 10" id="10"/>
          <p:cNvGrpSpPr/>
          <p:nvPr/>
        </p:nvGrpSpPr>
        <p:grpSpPr>
          <a:xfrm rot="0">
            <a:off x="12044727" y="5899558"/>
            <a:ext cx="355557" cy="35555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2" id="12"/>
            <p:cNvSpPr txBox="true"/>
            <p:nvPr/>
          </p:nvSpPr>
          <p:spPr>
            <a:xfrm>
              <a:off x="76200" y="76200"/>
              <a:ext cx="660400" cy="660400"/>
            </a:xfrm>
            <a:prstGeom prst="rect">
              <a:avLst/>
            </a:prstGeom>
          </p:spPr>
          <p:txBody>
            <a:bodyPr anchor="ctr" rtlCol="false" tIns="43391" lIns="43391" bIns="43391" rIns="43391"/>
            <a:lstStyle/>
            <a:p>
              <a:pPr algn="ctr">
                <a:lnSpc>
                  <a:spcPts val="3024"/>
                </a:lnSpc>
              </a:pPr>
            </a:p>
          </p:txBody>
        </p:sp>
      </p:grpSp>
      <p:sp>
        <p:nvSpPr>
          <p:cNvPr name="TextBox 13" id="1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09</a:t>
            </a:r>
          </a:p>
        </p:txBody>
      </p:sp>
      <p:sp>
        <p:nvSpPr>
          <p:cNvPr name="TextBox 14" id="14"/>
          <p:cNvSpPr txBox="true"/>
          <p:nvPr/>
        </p:nvSpPr>
        <p:spPr>
          <a:xfrm rot="0">
            <a:off x="1897215" y="2319316"/>
            <a:ext cx="13911819" cy="1499385"/>
          </a:xfrm>
          <a:prstGeom prst="rect">
            <a:avLst/>
          </a:prstGeom>
        </p:spPr>
        <p:txBody>
          <a:bodyPr anchor="t" rtlCol="false" tIns="0" lIns="0" bIns="0" rIns="0">
            <a:spAutoFit/>
          </a:bodyPr>
          <a:lstStyle/>
          <a:p>
            <a:pPr algn="ctr">
              <a:lnSpc>
                <a:spcPts val="5780"/>
              </a:lnSpc>
            </a:pPr>
            <a:r>
              <a:rPr lang="en-US" b="true" sz="5780">
                <a:solidFill>
                  <a:srgbClr val="000000"/>
                </a:solidFill>
                <a:latin typeface="Cinzel Bold"/>
                <a:ea typeface="Cinzel Bold"/>
                <a:cs typeface="Cinzel Bold"/>
                <a:sym typeface="Cinzel Bold"/>
              </a:rPr>
              <a:t>PEMILIHAN SOLUSI TEKNIK </a:t>
            </a:r>
          </a:p>
          <a:p>
            <a:pPr algn="ctr" marL="0" indent="0" lvl="0">
              <a:lnSpc>
                <a:spcPts val="5780"/>
              </a:lnSpc>
            </a:pPr>
            <a:r>
              <a:rPr lang="en-US" b="true" sz="5780">
                <a:solidFill>
                  <a:srgbClr val="000000"/>
                </a:solidFill>
                <a:latin typeface="Cinzel Bold"/>
                <a:ea typeface="Cinzel Bold"/>
                <a:cs typeface="Cinzel Bold"/>
                <a:sym typeface="Cinzel Bold"/>
              </a:rPr>
              <a:t>FRONT-END </a:t>
            </a:r>
          </a:p>
        </p:txBody>
      </p:sp>
      <p:sp>
        <p:nvSpPr>
          <p:cNvPr name="AutoShape 15" id="15"/>
          <p:cNvSpPr/>
          <p:nvPr/>
        </p:nvSpPr>
        <p:spPr>
          <a:xfrm flipH="true" flipV="true">
            <a:off x="355697" y="6255115"/>
            <a:ext cx="358717" cy="1464278"/>
          </a:xfrm>
          <a:prstGeom prst="line">
            <a:avLst/>
          </a:prstGeom>
          <a:ln cap="flat" w="104775">
            <a:solidFill>
              <a:srgbClr val="000000"/>
            </a:solidFill>
            <a:prstDash val="solid"/>
            <a:headEnd type="none" len="sm" w="sm"/>
            <a:tailEnd type="arrow" len="sm" w="med"/>
          </a:ln>
        </p:spPr>
      </p:sp>
      <p:grpSp>
        <p:nvGrpSpPr>
          <p:cNvPr name="Group 16" id="16"/>
          <p:cNvGrpSpPr/>
          <p:nvPr/>
        </p:nvGrpSpPr>
        <p:grpSpPr>
          <a:xfrm rot="0">
            <a:off x="714414" y="6501258"/>
            <a:ext cx="4845271" cy="2436271"/>
            <a:chOff x="0" y="0"/>
            <a:chExt cx="1276121" cy="641652"/>
          </a:xfrm>
        </p:grpSpPr>
        <p:sp>
          <p:nvSpPr>
            <p:cNvPr name="Freeform 17" id="17"/>
            <p:cNvSpPr/>
            <p:nvPr/>
          </p:nvSpPr>
          <p:spPr>
            <a:xfrm flipH="false" flipV="false" rot="0">
              <a:off x="0" y="0"/>
              <a:ext cx="1276121" cy="641652"/>
            </a:xfrm>
            <a:custGeom>
              <a:avLst/>
              <a:gdLst/>
              <a:ahLst/>
              <a:cxnLst/>
              <a:rect r="r" b="b" t="t" l="l"/>
              <a:pathLst>
                <a:path h="641652" w="1276121">
                  <a:moveTo>
                    <a:pt x="46337" y="0"/>
                  </a:moveTo>
                  <a:lnTo>
                    <a:pt x="1229784" y="0"/>
                  </a:lnTo>
                  <a:cubicBezTo>
                    <a:pt x="1255375" y="0"/>
                    <a:pt x="1276121" y="20746"/>
                    <a:pt x="1276121" y="46337"/>
                  </a:cubicBezTo>
                  <a:lnTo>
                    <a:pt x="1276121" y="595314"/>
                  </a:lnTo>
                  <a:cubicBezTo>
                    <a:pt x="1276121" y="607604"/>
                    <a:pt x="1271239" y="619390"/>
                    <a:pt x="1262549" y="628080"/>
                  </a:cubicBezTo>
                  <a:cubicBezTo>
                    <a:pt x="1253859" y="636770"/>
                    <a:pt x="1242073" y="641652"/>
                    <a:pt x="1229784" y="641652"/>
                  </a:cubicBezTo>
                  <a:lnTo>
                    <a:pt x="46337" y="641652"/>
                  </a:lnTo>
                  <a:cubicBezTo>
                    <a:pt x="34048" y="641652"/>
                    <a:pt x="22262" y="636770"/>
                    <a:pt x="13572" y="628080"/>
                  </a:cubicBezTo>
                  <a:cubicBezTo>
                    <a:pt x="4882" y="619390"/>
                    <a:pt x="0" y="607604"/>
                    <a:pt x="0" y="595314"/>
                  </a:cubicBezTo>
                  <a:lnTo>
                    <a:pt x="0" y="46337"/>
                  </a:lnTo>
                  <a:cubicBezTo>
                    <a:pt x="0" y="34048"/>
                    <a:pt x="4882" y="22262"/>
                    <a:pt x="13572" y="13572"/>
                  </a:cubicBezTo>
                  <a:cubicBezTo>
                    <a:pt x="22262" y="4882"/>
                    <a:pt x="34048" y="0"/>
                    <a:pt x="46337" y="0"/>
                  </a:cubicBezTo>
                  <a:close/>
                </a:path>
              </a:pathLst>
            </a:custGeom>
            <a:solidFill>
              <a:srgbClr val="000000">
                <a:alpha val="57647"/>
              </a:srgbClr>
            </a:solidFill>
          </p:spPr>
        </p:sp>
        <p:sp>
          <p:nvSpPr>
            <p:cNvPr name="TextBox 18" id="18"/>
            <p:cNvSpPr txBox="true"/>
            <p:nvPr/>
          </p:nvSpPr>
          <p:spPr>
            <a:xfrm>
              <a:off x="0" y="0"/>
              <a:ext cx="1276121" cy="641652"/>
            </a:xfrm>
            <a:prstGeom prst="rect">
              <a:avLst/>
            </a:prstGeom>
          </p:spPr>
          <p:txBody>
            <a:bodyPr anchor="ctr" rtlCol="false" tIns="50800" lIns="50800" bIns="50800" rIns="50800"/>
            <a:lstStyle/>
            <a:p>
              <a:pPr algn="ctr">
                <a:lnSpc>
                  <a:spcPts val="3024"/>
                </a:lnSpc>
              </a:pPr>
            </a:p>
          </p:txBody>
        </p:sp>
      </p:grpSp>
      <p:sp>
        <p:nvSpPr>
          <p:cNvPr name="AutoShape 19" id="19"/>
          <p:cNvSpPr/>
          <p:nvPr/>
        </p:nvSpPr>
        <p:spPr>
          <a:xfrm flipH="true" flipV="true">
            <a:off x="6289101" y="6255115"/>
            <a:ext cx="411105" cy="1464278"/>
          </a:xfrm>
          <a:prstGeom prst="line">
            <a:avLst/>
          </a:prstGeom>
          <a:ln cap="flat" w="104775">
            <a:solidFill>
              <a:srgbClr val="000000"/>
            </a:solidFill>
            <a:prstDash val="solid"/>
            <a:headEnd type="none" len="sm" w="sm"/>
            <a:tailEnd type="arrow" len="sm" w="med"/>
          </a:ln>
        </p:spPr>
      </p:sp>
      <p:sp>
        <p:nvSpPr>
          <p:cNvPr name="AutoShape 20" id="20"/>
          <p:cNvSpPr/>
          <p:nvPr/>
        </p:nvSpPr>
        <p:spPr>
          <a:xfrm flipH="true" flipV="true">
            <a:off x="12222506" y="6255115"/>
            <a:ext cx="369441" cy="1464278"/>
          </a:xfrm>
          <a:prstGeom prst="line">
            <a:avLst/>
          </a:prstGeom>
          <a:ln cap="flat" w="104775">
            <a:solidFill>
              <a:srgbClr val="000000"/>
            </a:solidFill>
            <a:prstDash val="solid"/>
            <a:headEnd type="none" len="sm" w="sm"/>
            <a:tailEnd type="arrow" len="sm" w="med"/>
          </a:ln>
        </p:spPr>
      </p:sp>
      <p:sp>
        <p:nvSpPr>
          <p:cNvPr name="TextBox 21" id="21"/>
          <p:cNvSpPr txBox="true"/>
          <p:nvPr/>
        </p:nvSpPr>
        <p:spPr>
          <a:xfrm rot="0">
            <a:off x="639843" y="5442358"/>
            <a:ext cx="1619535" cy="4572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Website</a:t>
            </a:r>
          </a:p>
        </p:txBody>
      </p:sp>
      <p:sp>
        <p:nvSpPr>
          <p:cNvPr name="TextBox 22" id="22"/>
          <p:cNvSpPr txBox="true"/>
          <p:nvPr/>
        </p:nvSpPr>
        <p:spPr>
          <a:xfrm rot="0">
            <a:off x="6699117" y="5442358"/>
            <a:ext cx="1467342" cy="4572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Mobile</a:t>
            </a:r>
          </a:p>
        </p:txBody>
      </p:sp>
      <p:sp>
        <p:nvSpPr>
          <p:cNvPr name="TextBox 23" id="23"/>
          <p:cNvSpPr txBox="true"/>
          <p:nvPr/>
        </p:nvSpPr>
        <p:spPr>
          <a:xfrm rot="0">
            <a:off x="12605109" y="5442358"/>
            <a:ext cx="1516563" cy="4572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Dekstop</a:t>
            </a:r>
          </a:p>
        </p:txBody>
      </p:sp>
      <p:sp>
        <p:nvSpPr>
          <p:cNvPr name="TextBox 24" id="24"/>
          <p:cNvSpPr txBox="true"/>
          <p:nvPr/>
        </p:nvSpPr>
        <p:spPr>
          <a:xfrm rot="0">
            <a:off x="1000246" y="6584190"/>
            <a:ext cx="4273608" cy="2200275"/>
          </a:xfrm>
          <a:prstGeom prst="rect">
            <a:avLst/>
          </a:prstGeom>
        </p:spPr>
        <p:txBody>
          <a:bodyPr anchor="t" rtlCol="false" tIns="0" lIns="0" bIns="0" rIns="0">
            <a:spAutoFit/>
          </a:bodyPr>
          <a:lstStyle/>
          <a:p>
            <a:pPr algn="ctr">
              <a:lnSpc>
                <a:spcPts val="2545"/>
              </a:lnSpc>
              <a:spcBef>
                <a:spcPct val="0"/>
              </a:spcBef>
            </a:pPr>
            <a:r>
              <a:rPr lang="en-US" sz="2121">
                <a:solidFill>
                  <a:srgbClr val="FFFFFA"/>
                </a:solidFill>
                <a:latin typeface="Source Serif Pro"/>
                <a:ea typeface="Source Serif Pro"/>
                <a:cs typeface="Source Serif Pro"/>
                <a:sym typeface="Source Serif Pro"/>
              </a:rPr>
              <a:t>Aplikasi web mudah diperbarui, dapat diakses dari berbagai perangkat, dan memiliki biaya pengembangan lebih rendah, tetapi bergantung pada koneksi internet dan pengalaman pengguna terbatas pada perangkat.</a:t>
            </a:r>
          </a:p>
        </p:txBody>
      </p:sp>
      <p:grpSp>
        <p:nvGrpSpPr>
          <p:cNvPr name="Group 25" id="25"/>
          <p:cNvGrpSpPr/>
          <p:nvPr/>
        </p:nvGrpSpPr>
        <p:grpSpPr>
          <a:xfrm rot="0">
            <a:off x="6700206" y="6501258"/>
            <a:ext cx="4845271" cy="2436271"/>
            <a:chOff x="0" y="0"/>
            <a:chExt cx="1276121" cy="641652"/>
          </a:xfrm>
        </p:grpSpPr>
        <p:sp>
          <p:nvSpPr>
            <p:cNvPr name="Freeform 26" id="26"/>
            <p:cNvSpPr/>
            <p:nvPr/>
          </p:nvSpPr>
          <p:spPr>
            <a:xfrm flipH="false" flipV="false" rot="0">
              <a:off x="0" y="0"/>
              <a:ext cx="1276121" cy="641652"/>
            </a:xfrm>
            <a:custGeom>
              <a:avLst/>
              <a:gdLst/>
              <a:ahLst/>
              <a:cxnLst/>
              <a:rect r="r" b="b" t="t" l="l"/>
              <a:pathLst>
                <a:path h="641652" w="1276121">
                  <a:moveTo>
                    <a:pt x="46337" y="0"/>
                  </a:moveTo>
                  <a:lnTo>
                    <a:pt x="1229784" y="0"/>
                  </a:lnTo>
                  <a:cubicBezTo>
                    <a:pt x="1255375" y="0"/>
                    <a:pt x="1276121" y="20746"/>
                    <a:pt x="1276121" y="46337"/>
                  </a:cubicBezTo>
                  <a:lnTo>
                    <a:pt x="1276121" y="595314"/>
                  </a:lnTo>
                  <a:cubicBezTo>
                    <a:pt x="1276121" y="607604"/>
                    <a:pt x="1271239" y="619390"/>
                    <a:pt x="1262549" y="628080"/>
                  </a:cubicBezTo>
                  <a:cubicBezTo>
                    <a:pt x="1253859" y="636770"/>
                    <a:pt x="1242073" y="641652"/>
                    <a:pt x="1229784" y="641652"/>
                  </a:cubicBezTo>
                  <a:lnTo>
                    <a:pt x="46337" y="641652"/>
                  </a:lnTo>
                  <a:cubicBezTo>
                    <a:pt x="34048" y="641652"/>
                    <a:pt x="22262" y="636770"/>
                    <a:pt x="13572" y="628080"/>
                  </a:cubicBezTo>
                  <a:cubicBezTo>
                    <a:pt x="4882" y="619390"/>
                    <a:pt x="0" y="607604"/>
                    <a:pt x="0" y="595314"/>
                  </a:cubicBezTo>
                  <a:lnTo>
                    <a:pt x="0" y="46337"/>
                  </a:lnTo>
                  <a:cubicBezTo>
                    <a:pt x="0" y="34048"/>
                    <a:pt x="4882" y="22262"/>
                    <a:pt x="13572" y="13572"/>
                  </a:cubicBezTo>
                  <a:cubicBezTo>
                    <a:pt x="22262" y="4882"/>
                    <a:pt x="34048" y="0"/>
                    <a:pt x="46337" y="0"/>
                  </a:cubicBezTo>
                  <a:close/>
                </a:path>
              </a:pathLst>
            </a:custGeom>
            <a:solidFill>
              <a:srgbClr val="000000">
                <a:alpha val="57647"/>
              </a:srgbClr>
            </a:solidFill>
          </p:spPr>
        </p:sp>
        <p:sp>
          <p:nvSpPr>
            <p:cNvPr name="TextBox 27" id="27"/>
            <p:cNvSpPr txBox="true"/>
            <p:nvPr/>
          </p:nvSpPr>
          <p:spPr>
            <a:xfrm>
              <a:off x="0" y="0"/>
              <a:ext cx="1276121" cy="641652"/>
            </a:xfrm>
            <a:prstGeom prst="rect">
              <a:avLst/>
            </a:prstGeom>
          </p:spPr>
          <p:txBody>
            <a:bodyPr anchor="ctr" rtlCol="false" tIns="50800" lIns="50800" bIns="50800" rIns="50800"/>
            <a:lstStyle/>
            <a:p>
              <a:pPr algn="ctr">
                <a:lnSpc>
                  <a:spcPts val="3024"/>
                </a:lnSpc>
              </a:pPr>
            </a:p>
          </p:txBody>
        </p:sp>
      </p:grpSp>
      <p:grpSp>
        <p:nvGrpSpPr>
          <p:cNvPr name="Group 28" id="28"/>
          <p:cNvGrpSpPr/>
          <p:nvPr/>
        </p:nvGrpSpPr>
        <p:grpSpPr>
          <a:xfrm rot="0">
            <a:off x="12591947" y="6501258"/>
            <a:ext cx="4845271" cy="2436271"/>
            <a:chOff x="0" y="0"/>
            <a:chExt cx="1276121" cy="641652"/>
          </a:xfrm>
        </p:grpSpPr>
        <p:sp>
          <p:nvSpPr>
            <p:cNvPr name="Freeform 29" id="29"/>
            <p:cNvSpPr/>
            <p:nvPr/>
          </p:nvSpPr>
          <p:spPr>
            <a:xfrm flipH="false" flipV="false" rot="0">
              <a:off x="0" y="0"/>
              <a:ext cx="1276121" cy="641652"/>
            </a:xfrm>
            <a:custGeom>
              <a:avLst/>
              <a:gdLst/>
              <a:ahLst/>
              <a:cxnLst/>
              <a:rect r="r" b="b" t="t" l="l"/>
              <a:pathLst>
                <a:path h="641652" w="1276121">
                  <a:moveTo>
                    <a:pt x="46337" y="0"/>
                  </a:moveTo>
                  <a:lnTo>
                    <a:pt x="1229784" y="0"/>
                  </a:lnTo>
                  <a:cubicBezTo>
                    <a:pt x="1255375" y="0"/>
                    <a:pt x="1276121" y="20746"/>
                    <a:pt x="1276121" y="46337"/>
                  </a:cubicBezTo>
                  <a:lnTo>
                    <a:pt x="1276121" y="595314"/>
                  </a:lnTo>
                  <a:cubicBezTo>
                    <a:pt x="1276121" y="607604"/>
                    <a:pt x="1271239" y="619390"/>
                    <a:pt x="1262549" y="628080"/>
                  </a:cubicBezTo>
                  <a:cubicBezTo>
                    <a:pt x="1253859" y="636770"/>
                    <a:pt x="1242073" y="641652"/>
                    <a:pt x="1229784" y="641652"/>
                  </a:cubicBezTo>
                  <a:lnTo>
                    <a:pt x="46337" y="641652"/>
                  </a:lnTo>
                  <a:cubicBezTo>
                    <a:pt x="34048" y="641652"/>
                    <a:pt x="22262" y="636770"/>
                    <a:pt x="13572" y="628080"/>
                  </a:cubicBezTo>
                  <a:cubicBezTo>
                    <a:pt x="4882" y="619390"/>
                    <a:pt x="0" y="607604"/>
                    <a:pt x="0" y="595314"/>
                  </a:cubicBezTo>
                  <a:lnTo>
                    <a:pt x="0" y="46337"/>
                  </a:lnTo>
                  <a:cubicBezTo>
                    <a:pt x="0" y="34048"/>
                    <a:pt x="4882" y="22262"/>
                    <a:pt x="13572" y="13572"/>
                  </a:cubicBezTo>
                  <a:cubicBezTo>
                    <a:pt x="22262" y="4882"/>
                    <a:pt x="34048" y="0"/>
                    <a:pt x="46337" y="0"/>
                  </a:cubicBezTo>
                  <a:close/>
                </a:path>
              </a:pathLst>
            </a:custGeom>
            <a:solidFill>
              <a:srgbClr val="000000">
                <a:alpha val="57647"/>
              </a:srgbClr>
            </a:solidFill>
          </p:spPr>
        </p:sp>
        <p:sp>
          <p:nvSpPr>
            <p:cNvPr name="TextBox 30" id="30"/>
            <p:cNvSpPr txBox="true"/>
            <p:nvPr/>
          </p:nvSpPr>
          <p:spPr>
            <a:xfrm>
              <a:off x="0" y="0"/>
              <a:ext cx="1276121" cy="641652"/>
            </a:xfrm>
            <a:prstGeom prst="rect">
              <a:avLst/>
            </a:prstGeom>
          </p:spPr>
          <p:txBody>
            <a:bodyPr anchor="ctr" rtlCol="false" tIns="50800" lIns="50800" bIns="50800" rIns="50800"/>
            <a:lstStyle/>
            <a:p>
              <a:pPr algn="ctr">
                <a:lnSpc>
                  <a:spcPts val="3024"/>
                </a:lnSpc>
              </a:pPr>
            </a:p>
          </p:txBody>
        </p:sp>
      </p:grpSp>
      <p:sp>
        <p:nvSpPr>
          <p:cNvPr name="TextBox 31" id="31"/>
          <p:cNvSpPr txBox="true"/>
          <p:nvPr/>
        </p:nvSpPr>
        <p:spPr>
          <a:xfrm rot="0">
            <a:off x="7207529" y="6898515"/>
            <a:ext cx="4094394" cy="1571625"/>
          </a:xfrm>
          <a:prstGeom prst="rect">
            <a:avLst/>
          </a:prstGeom>
        </p:spPr>
        <p:txBody>
          <a:bodyPr anchor="t" rtlCol="false" tIns="0" lIns="0" bIns="0" rIns="0">
            <a:spAutoFit/>
          </a:bodyPr>
          <a:lstStyle/>
          <a:p>
            <a:pPr algn="ctr">
              <a:lnSpc>
                <a:spcPts val="2545"/>
              </a:lnSpc>
              <a:spcBef>
                <a:spcPct val="0"/>
              </a:spcBef>
            </a:pPr>
            <a:r>
              <a:rPr lang="en-US" sz="2121">
                <a:solidFill>
                  <a:srgbClr val="FFFFFA"/>
                </a:solidFill>
                <a:latin typeface="Source Serif Pro"/>
                <a:ea typeface="Source Serif Pro"/>
                <a:cs typeface="Source Serif Pro"/>
                <a:sym typeface="Source Serif Pro"/>
              </a:rPr>
              <a:t>Aplikasi mobile unggul dalam portabilitas dan kemudahan akses, </a:t>
            </a:r>
            <a:r>
              <a:rPr lang="en-US" b="true" sz="2121">
                <a:solidFill>
                  <a:srgbClr val="FFFFFA"/>
                </a:solidFill>
                <a:latin typeface="Source Serif Pro Bold"/>
                <a:ea typeface="Source Serif Pro Bold"/>
                <a:cs typeface="Source Serif Pro Bold"/>
                <a:sym typeface="Source Serif Pro Bold"/>
              </a:rPr>
              <a:t>namun biaya pengembangan tinggi dan pembaruan dilakukan manual.</a:t>
            </a:r>
          </a:p>
        </p:txBody>
      </p:sp>
      <p:sp>
        <p:nvSpPr>
          <p:cNvPr name="TextBox 32" id="32"/>
          <p:cNvSpPr txBox="true"/>
          <p:nvPr/>
        </p:nvSpPr>
        <p:spPr>
          <a:xfrm rot="0">
            <a:off x="13099270" y="6898515"/>
            <a:ext cx="4019032" cy="1571625"/>
          </a:xfrm>
          <a:prstGeom prst="rect">
            <a:avLst/>
          </a:prstGeom>
        </p:spPr>
        <p:txBody>
          <a:bodyPr anchor="t" rtlCol="false" tIns="0" lIns="0" bIns="0" rIns="0">
            <a:spAutoFit/>
          </a:bodyPr>
          <a:lstStyle/>
          <a:p>
            <a:pPr algn="ctr">
              <a:lnSpc>
                <a:spcPts val="2545"/>
              </a:lnSpc>
              <a:spcBef>
                <a:spcPct val="0"/>
              </a:spcBef>
            </a:pPr>
            <a:r>
              <a:rPr lang="en-US" sz="2121">
                <a:solidFill>
                  <a:srgbClr val="FFFFFA"/>
                </a:solidFill>
                <a:latin typeface="Source Serif Pro"/>
                <a:ea typeface="Source Serif Pro"/>
                <a:cs typeface="Source Serif Pro"/>
                <a:sym typeface="Source Serif Pro"/>
              </a:rPr>
              <a:t>Aplikasi desktop unggul dalam performa dan stabilitas, </a:t>
            </a:r>
            <a:r>
              <a:rPr lang="en-US" b="true" sz="2121">
                <a:solidFill>
                  <a:srgbClr val="FFFFFA"/>
                </a:solidFill>
                <a:latin typeface="Source Serif Pro Bold"/>
                <a:ea typeface="Source Serif Pro Bold"/>
                <a:cs typeface="Source Serif Pro Bold"/>
                <a:sym typeface="Source Serif Pro Bold"/>
              </a:rPr>
              <a:t>namun memerlukan instalasi dan kurang portabel dibandingkan aplikasi web atau mobile.</a:t>
            </a:r>
          </a:p>
        </p:txBody>
      </p:sp>
      <p:sp>
        <p:nvSpPr>
          <p:cNvPr name="TextBox 33" id="33"/>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703" r="0" b="0"/>
            </a:stretch>
          </a:blipFill>
        </p:spPr>
      </p:sp>
      <p:grpSp>
        <p:nvGrpSpPr>
          <p:cNvPr name="Group 3" id="3"/>
          <p:cNvGrpSpPr/>
          <p:nvPr/>
        </p:nvGrpSpPr>
        <p:grpSpPr>
          <a:xfrm rot="0">
            <a:off x="0" y="0"/>
            <a:ext cx="6839388" cy="10287000"/>
            <a:chOff x="0" y="0"/>
            <a:chExt cx="9119184" cy="13716000"/>
          </a:xfrm>
        </p:grpSpPr>
        <p:pic>
          <p:nvPicPr>
            <p:cNvPr name="Picture 4" id="4"/>
            <p:cNvPicPr>
              <a:picLocks noChangeAspect="true"/>
            </p:cNvPicPr>
            <p:nvPr/>
          </p:nvPicPr>
          <p:blipFill>
            <a:blip r:embed="rId3"/>
            <a:srcRect l="65" t="0" r="64008" b="18893"/>
            <a:stretch>
              <a:fillRect/>
            </a:stretch>
          </p:blipFill>
          <p:spPr>
            <a:xfrm flipH="false" flipV="false">
              <a:off x="0" y="0"/>
              <a:ext cx="9119184" cy="13716000"/>
            </a:xfrm>
            <a:prstGeom prst="rect">
              <a:avLst/>
            </a:prstGeom>
          </p:spPr>
        </p:pic>
      </p:grpSp>
      <p:sp>
        <p:nvSpPr>
          <p:cNvPr name="TextBox 5" id="5"/>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FFFFFA"/>
                </a:solidFill>
                <a:latin typeface="Cinzel Bold"/>
                <a:ea typeface="Cinzel Bold"/>
                <a:cs typeface="Cinzel Bold"/>
                <a:sym typeface="Cinzel Bold"/>
              </a:rPr>
              <a:t>10</a:t>
            </a:r>
          </a:p>
        </p:txBody>
      </p:sp>
      <p:sp>
        <p:nvSpPr>
          <p:cNvPr name="TextBox 6" id="6"/>
          <p:cNvSpPr txBox="true"/>
          <p:nvPr/>
        </p:nvSpPr>
        <p:spPr>
          <a:xfrm rot="0">
            <a:off x="8251763" y="3165475"/>
            <a:ext cx="8755216" cy="4098926"/>
          </a:xfrm>
          <a:prstGeom prst="rect">
            <a:avLst/>
          </a:prstGeom>
        </p:spPr>
        <p:txBody>
          <a:bodyPr anchor="t" rtlCol="false" tIns="0" lIns="0" bIns="0" rIns="0">
            <a:spAutoFit/>
          </a:bodyPr>
          <a:lstStyle/>
          <a:p>
            <a:pPr algn="r" marL="0" indent="0" lvl="0">
              <a:lnSpc>
                <a:spcPts val="8000"/>
              </a:lnSpc>
            </a:pPr>
            <a:r>
              <a:rPr lang="en-US" b="true" sz="8000">
                <a:solidFill>
                  <a:srgbClr val="2E3127"/>
                </a:solidFill>
                <a:latin typeface="Cinzel Bold"/>
                <a:ea typeface="Cinzel Bold"/>
                <a:cs typeface="Cinzel Bold"/>
                <a:sym typeface="Cinzel Bold"/>
              </a:rPr>
              <a:t>Skenario pemanfaatan oleh stakeholder</a:t>
            </a:r>
          </a:p>
        </p:txBody>
      </p:sp>
      <p:sp>
        <p:nvSpPr>
          <p:cNvPr name="TextBox 7" id="7"/>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25703" r="0" b="0"/>
            </a:stretch>
          </a:blipFill>
        </p:spPr>
      </p:sp>
      <p:sp>
        <p:nvSpPr>
          <p:cNvPr name="TextBox 3" id="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4E4E4E"/>
                </a:solidFill>
                <a:latin typeface="Cinzel Bold"/>
                <a:ea typeface="Cinzel Bold"/>
                <a:cs typeface="Cinzel Bold"/>
                <a:sym typeface="Cinzel Bold"/>
              </a:rPr>
              <a:t>11</a:t>
            </a:r>
          </a:p>
        </p:txBody>
      </p:sp>
      <p:sp>
        <p:nvSpPr>
          <p:cNvPr name="TextBox 4" id="4"/>
          <p:cNvSpPr txBox="true"/>
          <p:nvPr/>
        </p:nvSpPr>
        <p:spPr>
          <a:xfrm rot="0">
            <a:off x="2501499" y="1987402"/>
            <a:ext cx="2835915" cy="645795"/>
          </a:xfrm>
          <a:prstGeom prst="rect">
            <a:avLst/>
          </a:prstGeom>
        </p:spPr>
        <p:txBody>
          <a:bodyPr anchor="t" rtlCol="false" tIns="0" lIns="0" bIns="0" rIns="0">
            <a:spAutoFit/>
          </a:bodyPr>
          <a:lstStyle/>
          <a:p>
            <a:pPr algn="l" marL="0" indent="0" lvl="0">
              <a:lnSpc>
                <a:spcPts val="4800"/>
              </a:lnSpc>
            </a:pPr>
            <a:r>
              <a:rPr lang="en-US" b="true" sz="4800">
                <a:solidFill>
                  <a:srgbClr val="2E3127"/>
                </a:solidFill>
                <a:latin typeface="Cinzel Bold"/>
                <a:ea typeface="Cinzel Bold"/>
                <a:cs typeface="Cinzel Bold"/>
                <a:sym typeface="Cinzel Bold"/>
              </a:rPr>
              <a:t>Owner</a:t>
            </a:r>
          </a:p>
        </p:txBody>
      </p:sp>
      <p:sp>
        <p:nvSpPr>
          <p:cNvPr name="TextBox 5" id="5"/>
          <p:cNvSpPr txBox="true"/>
          <p:nvPr/>
        </p:nvSpPr>
        <p:spPr>
          <a:xfrm rot="0">
            <a:off x="2501499" y="4179910"/>
            <a:ext cx="3301375" cy="645795"/>
          </a:xfrm>
          <a:prstGeom prst="rect">
            <a:avLst/>
          </a:prstGeom>
        </p:spPr>
        <p:txBody>
          <a:bodyPr anchor="t" rtlCol="false" tIns="0" lIns="0" bIns="0" rIns="0">
            <a:spAutoFit/>
          </a:bodyPr>
          <a:lstStyle/>
          <a:p>
            <a:pPr algn="l" marL="0" indent="0" lvl="0">
              <a:lnSpc>
                <a:spcPts val="4800"/>
              </a:lnSpc>
            </a:pPr>
            <a:r>
              <a:rPr lang="en-US" b="true" sz="4800">
                <a:solidFill>
                  <a:srgbClr val="2E3127"/>
                </a:solidFill>
                <a:latin typeface="Cinzel Bold"/>
                <a:ea typeface="Cinzel Bold"/>
                <a:cs typeface="Cinzel Bold"/>
                <a:sym typeface="Cinzel Bold"/>
              </a:rPr>
              <a:t>Manajer</a:t>
            </a:r>
          </a:p>
        </p:txBody>
      </p:sp>
      <p:sp>
        <p:nvSpPr>
          <p:cNvPr name="TextBox 6" id="6"/>
          <p:cNvSpPr txBox="true"/>
          <p:nvPr/>
        </p:nvSpPr>
        <p:spPr>
          <a:xfrm rot="0">
            <a:off x="2501499" y="6760038"/>
            <a:ext cx="4392143" cy="645795"/>
          </a:xfrm>
          <a:prstGeom prst="rect">
            <a:avLst/>
          </a:prstGeom>
        </p:spPr>
        <p:txBody>
          <a:bodyPr anchor="t" rtlCol="false" tIns="0" lIns="0" bIns="0" rIns="0">
            <a:spAutoFit/>
          </a:bodyPr>
          <a:lstStyle/>
          <a:p>
            <a:pPr algn="l" marL="0" indent="0" lvl="0">
              <a:lnSpc>
                <a:spcPts val="4800"/>
              </a:lnSpc>
            </a:pPr>
            <a:r>
              <a:rPr lang="en-US" b="true" sz="4800">
                <a:solidFill>
                  <a:srgbClr val="2E3127"/>
                </a:solidFill>
                <a:latin typeface="Cinzel Bold"/>
                <a:ea typeface="Cinzel Bold"/>
                <a:cs typeface="Cinzel Bold"/>
                <a:sym typeface="Cinzel Bold"/>
              </a:rPr>
              <a:t>Staf</a:t>
            </a:r>
          </a:p>
        </p:txBody>
      </p:sp>
      <p:sp>
        <p:nvSpPr>
          <p:cNvPr name="TextBox 7" id="7"/>
          <p:cNvSpPr txBox="true"/>
          <p:nvPr/>
        </p:nvSpPr>
        <p:spPr>
          <a:xfrm rot="0">
            <a:off x="2501499" y="2759926"/>
            <a:ext cx="14631673" cy="1162808"/>
          </a:xfrm>
          <a:prstGeom prst="rect">
            <a:avLst/>
          </a:prstGeom>
        </p:spPr>
        <p:txBody>
          <a:bodyPr anchor="t" rtlCol="false" tIns="0" lIns="0" bIns="0" rIns="0">
            <a:spAutoFit/>
          </a:bodyPr>
          <a:lstStyle/>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Melihat menu dasbor </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Melihat menu data transaksi </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Melihat menu report</a:t>
            </a:r>
          </a:p>
        </p:txBody>
      </p:sp>
      <p:sp>
        <p:nvSpPr>
          <p:cNvPr name="TextBox 8" id="8"/>
          <p:cNvSpPr txBox="true"/>
          <p:nvPr/>
        </p:nvSpPr>
        <p:spPr>
          <a:xfrm rot="0">
            <a:off x="2501499" y="4949530"/>
            <a:ext cx="14631673" cy="1553333"/>
          </a:xfrm>
          <a:prstGeom prst="rect">
            <a:avLst/>
          </a:prstGeom>
        </p:spPr>
        <p:txBody>
          <a:bodyPr anchor="t" rtlCol="false" tIns="0" lIns="0" bIns="0" rIns="0">
            <a:spAutoFit/>
          </a:bodyPr>
          <a:lstStyle/>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Memiliki akses menu dasbor </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a:t>
            </a:r>
            <a:r>
              <a:rPr lang="en-US" sz="2220">
                <a:solidFill>
                  <a:srgbClr val="000000"/>
                </a:solidFill>
                <a:latin typeface="Source Serif Pro"/>
                <a:ea typeface="Source Serif Pro"/>
                <a:cs typeface="Source Serif Pro"/>
                <a:sym typeface="Source Serif Pro"/>
              </a:rPr>
              <a:t>elihat laporan laba/rugi keuangan</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Mengatur data user </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Memasukkan data transaksi yang mencatat penggunaan bahan baku di kafe</a:t>
            </a:r>
          </a:p>
        </p:txBody>
      </p:sp>
      <p:sp>
        <p:nvSpPr>
          <p:cNvPr name="TextBox 9" id="9"/>
          <p:cNvSpPr txBox="true"/>
          <p:nvPr/>
        </p:nvSpPr>
        <p:spPr>
          <a:xfrm rot="0">
            <a:off x="2501499" y="7529658"/>
            <a:ext cx="14631673" cy="1553333"/>
          </a:xfrm>
          <a:prstGeom prst="rect">
            <a:avLst/>
          </a:prstGeom>
        </p:spPr>
        <p:txBody>
          <a:bodyPr anchor="t" rtlCol="false" tIns="0" lIns="0" bIns="0" rIns="0">
            <a:spAutoFit/>
          </a:bodyPr>
          <a:lstStyle/>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Memasukkan data penggunaan barang secara tepat di waktu tutup kafe</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a:t>
            </a:r>
            <a:r>
              <a:rPr lang="en-US" sz="2220">
                <a:solidFill>
                  <a:srgbClr val="000000"/>
                </a:solidFill>
                <a:latin typeface="Source Serif Pro"/>
                <a:ea typeface="Source Serif Pro"/>
                <a:cs typeface="Source Serif Pro"/>
                <a:sym typeface="Source Serif Pro"/>
              </a:rPr>
              <a:t>Memiliki akses ke menu dasbor</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a:t>
            </a:r>
            <a:r>
              <a:rPr lang="en-US" sz="2220">
                <a:solidFill>
                  <a:srgbClr val="000000"/>
                </a:solidFill>
                <a:latin typeface="Source Serif Pro"/>
                <a:ea typeface="Source Serif Pro"/>
                <a:cs typeface="Source Serif Pro"/>
                <a:sym typeface="Source Serif Pro"/>
              </a:rPr>
              <a:t>elihat laporan laba/rugi keuangan melalui aplikasi</a:t>
            </a:r>
          </a:p>
          <a:p>
            <a:pPr algn="just" marL="479329" indent="-239664" lvl="1">
              <a:lnSpc>
                <a:spcPts val="3108"/>
              </a:lnSpc>
              <a:buAutoNum type="arabicPeriod" startAt="1"/>
            </a:pPr>
            <a:r>
              <a:rPr lang="en-US" sz="2220">
                <a:solidFill>
                  <a:srgbClr val="000000"/>
                </a:solidFill>
                <a:latin typeface="Source Serif Pro"/>
                <a:ea typeface="Source Serif Pro"/>
                <a:cs typeface="Source Serif Pro"/>
                <a:sym typeface="Source Serif Pro"/>
              </a:rPr>
              <a:t> M</a:t>
            </a:r>
            <a:r>
              <a:rPr lang="en-US" sz="2220">
                <a:solidFill>
                  <a:srgbClr val="000000"/>
                </a:solidFill>
                <a:latin typeface="Source Serif Pro"/>
                <a:ea typeface="Source Serif Pro"/>
                <a:cs typeface="Source Serif Pro"/>
                <a:sym typeface="Source Serif Pro"/>
              </a:rPr>
              <a:t>emasukkan data transaksi yang mencatat penggunaan bahan baku di kafe</a:t>
            </a:r>
          </a:p>
        </p:txBody>
      </p:sp>
      <p:sp>
        <p:nvSpPr>
          <p:cNvPr name="TextBox 10" id="10"/>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88" r="0" b="-12888"/>
            </a:stretch>
          </a:blipFill>
        </p:spPr>
      </p:sp>
      <p:grpSp>
        <p:nvGrpSpPr>
          <p:cNvPr name="Group 3" id="3"/>
          <p:cNvGrpSpPr/>
          <p:nvPr/>
        </p:nvGrpSpPr>
        <p:grpSpPr>
          <a:xfrm rot="0">
            <a:off x="411035" y="5796329"/>
            <a:ext cx="2878835" cy="1547491"/>
            <a:chOff x="0" y="0"/>
            <a:chExt cx="975676" cy="524466"/>
          </a:xfrm>
        </p:grpSpPr>
        <p:sp>
          <p:nvSpPr>
            <p:cNvPr name="Freeform 4" id="4"/>
            <p:cNvSpPr/>
            <p:nvPr/>
          </p:nvSpPr>
          <p:spPr>
            <a:xfrm flipH="false" flipV="false" rot="0">
              <a:off x="0" y="0"/>
              <a:ext cx="975676" cy="524466"/>
            </a:xfrm>
            <a:custGeom>
              <a:avLst/>
              <a:gdLst/>
              <a:ahLst/>
              <a:cxnLst/>
              <a:rect r="r" b="b" t="t" l="l"/>
              <a:pathLst>
                <a:path h="524466" w="975676">
                  <a:moveTo>
                    <a:pt x="137152" y="0"/>
                  </a:moveTo>
                  <a:lnTo>
                    <a:pt x="838524" y="0"/>
                  </a:lnTo>
                  <a:cubicBezTo>
                    <a:pt x="874899" y="0"/>
                    <a:pt x="909784" y="14450"/>
                    <a:pt x="935505" y="40171"/>
                  </a:cubicBezTo>
                  <a:cubicBezTo>
                    <a:pt x="961226" y="65892"/>
                    <a:pt x="975676" y="100777"/>
                    <a:pt x="975676" y="137152"/>
                  </a:cubicBezTo>
                  <a:lnTo>
                    <a:pt x="975676" y="387314"/>
                  </a:lnTo>
                  <a:cubicBezTo>
                    <a:pt x="975676" y="423689"/>
                    <a:pt x="961226" y="458574"/>
                    <a:pt x="935505" y="484295"/>
                  </a:cubicBezTo>
                  <a:cubicBezTo>
                    <a:pt x="909784" y="510016"/>
                    <a:pt x="874899" y="524466"/>
                    <a:pt x="838524" y="524466"/>
                  </a:cubicBezTo>
                  <a:lnTo>
                    <a:pt x="137152" y="524466"/>
                  </a:lnTo>
                  <a:cubicBezTo>
                    <a:pt x="100777" y="524466"/>
                    <a:pt x="65892" y="510016"/>
                    <a:pt x="40171" y="484295"/>
                  </a:cubicBezTo>
                  <a:cubicBezTo>
                    <a:pt x="14450" y="458574"/>
                    <a:pt x="0" y="423689"/>
                    <a:pt x="0" y="387314"/>
                  </a:cubicBezTo>
                  <a:lnTo>
                    <a:pt x="0" y="137152"/>
                  </a:lnTo>
                  <a:cubicBezTo>
                    <a:pt x="0" y="100777"/>
                    <a:pt x="14450" y="65892"/>
                    <a:pt x="40171" y="40171"/>
                  </a:cubicBezTo>
                  <a:cubicBezTo>
                    <a:pt x="65892" y="14450"/>
                    <a:pt x="100777" y="0"/>
                    <a:pt x="137152" y="0"/>
                  </a:cubicBezTo>
                  <a:close/>
                </a:path>
              </a:pathLst>
            </a:custGeom>
            <a:solidFill>
              <a:srgbClr val="464648"/>
            </a:solidFill>
          </p:spPr>
        </p:sp>
        <p:sp>
          <p:nvSpPr>
            <p:cNvPr name="TextBox 5" id="5"/>
            <p:cNvSpPr txBox="true"/>
            <p:nvPr/>
          </p:nvSpPr>
          <p:spPr>
            <a:xfrm>
              <a:off x="0" y="0"/>
              <a:ext cx="975676" cy="524466"/>
            </a:xfrm>
            <a:prstGeom prst="rect">
              <a:avLst/>
            </a:prstGeom>
          </p:spPr>
          <p:txBody>
            <a:bodyPr anchor="ctr" rtlCol="false" tIns="50800" lIns="50800" bIns="50800" rIns="50800"/>
            <a:lstStyle/>
            <a:p>
              <a:pPr algn="ctr">
                <a:lnSpc>
                  <a:spcPts val="3024"/>
                </a:lnSpc>
              </a:pPr>
              <a:r>
                <a:rPr lang="en-US" sz="2520">
                  <a:solidFill>
                    <a:srgbClr val="FFFFFF"/>
                  </a:solidFill>
                  <a:latin typeface="Source Serif Pro"/>
                  <a:ea typeface="Source Serif Pro"/>
                  <a:cs typeface="Source Serif Pro"/>
                  <a:sym typeface="Source Serif Pro"/>
                </a:rPr>
                <a:t>Penentuan Sistem dan Perancangan Spesifikasi</a:t>
              </a:r>
            </a:p>
          </p:txBody>
        </p:sp>
      </p:grpSp>
      <p:grpSp>
        <p:nvGrpSpPr>
          <p:cNvPr name="Group 6" id="6"/>
          <p:cNvGrpSpPr/>
          <p:nvPr/>
        </p:nvGrpSpPr>
        <p:grpSpPr>
          <a:xfrm rot="0">
            <a:off x="3366070" y="6184269"/>
            <a:ext cx="675638" cy="771610"/>
            <a:chOff x="0" y="0"/>
            <a:chExt cx="711704" cy="812800"/>
          </a:xfrm>
        </p:grpSpPr>
        <p:sp>
          <p:nvSpPr>
            <p:cNvPr name="Freeform 7" id="7"/>
            <p:cNvSpPr/>
            <p:nvPr/>
          </p:nvSpPr>
          <p:spPr>
            <a:xfrm flipH="false" flipV="false" rot="0">
              <a:off x="0" y="0"/>
              <a:ext cx="711704" cy="812800"/>
            </a:xfrm>
            <a:custGeom>
              <a:avLst/>
              <a:gdLst/>
              <a:ahLst/>
              <a:cxnLst/>
              <a:rect r="r" b="b" t="t" l="l"/>
              <a:pathLst>
                <a:path h="812800" w="711704">
                  <a:moveTo>
                    <a:pt x="711704" y="406400"/>
                  </a:moveTo>
                  <a:lnTo>
                    <a:pt x="305304" y="0"/>
                  </a:lnTo>
                  <a:lnTo>
                    <a:pt x="305304" y="203200"/>
                  </a:lnTo>
                  <a:lnTo>
                    <a:pt x="0" y="203200"/>
                  </a:lnTo>
                  <a:lnTo>
                    <a:pt x="0" y="609600"/>
                  </a:lnTo>
                  <a:lnTo>
                    <a:pt x="305304" y="609600"/>
                  </a:lnTo>
                  <a:lnTo>
                    <a:pt x="305304" y="812800"/>
                  </a:lnTo>
                  <a:lnTo>
                    <a:pt x="711704" y="406400"/>
                  </a:lnTo>
                  <a:close/>
                </a:path>
              </a:pathLst>
            </a:custGeom>
            <a:solidFill>
              <a:srgbClr val="818183"/>
            </a:solidFill>
          </p:spPr>
        </p:sp>
        <p:sp>
          <p:nvSpPr>
            <p:cNvPr name="TextBox 8" id="8"/>
            <p:cNvSpPr txBox="true"/>
            <p:nvPr/>
          </p:nvSpPr>
          <p:spPr>
            <a:xfrm>
              <a:off x="0" y="203200"/>
              <a:ext cx="610104" cy="406400"/>
            </a:xfrm>
            <a:prstGeom prst="rect">
              <a:avLst/>
            </a:prstGeom>
          </p:spPr>
          <p:txBody>
            <a:bodyPr anchor="ctr" rtlCol="false" tIns="50800" lIns="50800" bIns="50800" rIns="50800"/>
            <a:lstStyle/>
            <a:p>
              <a:pPr algn="ctr">
                <a:lnSpc>
                  <a:spcPts val="3024"/>
                </a:lnSpc>
              </a:pPr>
            </a:p>
          </p:txBody>
        </p:sp>
      </p:grpSp>
      <p:sp>
        <p:nvSpPr>
          <p:cNvPr name="TextBox 9" id="9"/>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12</a:t>
            </a:r>
          </a:p>
        </p:txBody>
      </p:sp>
      <p:sp>
        <p:nvSpPr>
          <p:cNvPr name="TextBox 10" id="10"/>
          <p:cNvSpPr txBox="true"/>
          <p:nvPr/>
        </p:nvSpPr>
        <p:spPr>
          <a:xfrm rot="0">
            <a:off x="4549445" y="933377"/>
            <a:ext cx="9189110" cy="2079626"/>
          </a:xfrm>
          <a:prstGeom prst="rect">
            <a:avLst/>
          </a:prstGeom>
        </p:spPr>
        <p:txBody>
          <a:bodyPr anchor="t" rtlCol="false" tIns="0" lIns="0" bIns="0" rIns="0">
            <a:spAutoFit/>
          </a:bodyPr>
          <a:lstStyle/>
          <a:p>
            <a:pPr algn="ctr" marL="0" indent="0" lvl="0">
              <a:lnSpc>
                <a:spcPts val="8000"/>
              </a:lnSpc>
            </a:pPr>
            <a:r>
              <a:rPr lang="en-US" b="true" sz="8000">
                <a:solidFill>
                  <a:srgbClr val="2E3127"/>
                </a:solidFill>
                <a:latin typeface="Cinzel Bold"/>
                <a:ea typeface="Cinzel Bold"/>
                <a:cs typeface="Cinzel Bold"/>
                <a:sym typeface="Cinzel Bold"/>
              </a:rPr>
              <a:t>Jadwal Pengembangan</a:t>
            </a:r>
          </a:p>
        </p:txBody>
      </p:sp>
      <p:grpSp>
        <p:nvGrpSpPr>
          <p:cNvPr name="Group 11" id="11"/>
          <p:cNvGrpSpPr/>
          <p:nvPr/>
        </p:nvGrpSpPr>
        <p:grpSpPr>
          <a:xfrm rot="0">
            <a:off x="4117908" y="5796329"/>
            <a:ext cx="2878835" cy="1547491"/>
            <a:chOff x="0" y="0"/>
            <a:chExt cx="975676" cy="524466"/>
          </a:xfrm>
        </p:grpSpPr>
        <p:sp>
          <p:nvSpPr>
            <p:cNvPr name="Freeform 12" id="12"/>
            <p:cNvSpPr/>
            <p:nvPr/>
          </p:nvSpPr>
          <p:spPr>
            <a:xfrm flipH="false" flipV="false" rot="0">
              <a:off x="0" y="0"/>
              <a:ext cx="975676" cy="524466"/>
            </a:xfrm>
            <a:custGeom>
              <a:avLst/>
              <a:gdLst/>
              <a:ahLst/>
              <a:cxnLst/>
              <a:rect r="r" b="b" t="t" l="l"/>
              <a:pathLst>
                <a:path h="524466" w="975676">
                  <a:moveTo>
                    <a:pt x="137152" y="0"/>
                  </a:moveTo>
                  <a:lnTo>
                    <a:pt x="838524" y="0"/>
                  </a:lnTo>
                  <a:cubicBezTo>
                    <a:pt x="874899" y="0"/>
                    <a:pt x="909784" y="14450"/>
                    <a:pt x="935505" y="40171"/>
                  </a:cubicBezTo>
                  <a:cubicBezTo>
                    <a:pt x="961226" y="65892"/>
                    <a:pt x="975676" y="100777"/>
                    <a:pt x="975676" y="137152"/>
                  </a:cubicBezTo>
                  <a:lnTo>
                    <a:pt x="975676" y="387314"/>
                  </a:lnTo>
                  <a:cubicBezTo>
                    <a:pt x="975676" y="423689"/>
                    <a:pt x="961226" y="458574"/>
                    <a:pt x="935505" y="484295"/>
                  </a:cubicBezTo>
                  <a:cubicBezTo>
                    <a:pt x="909784" y="510016"/>
                    <a:pt x="874899" y="524466"/>
                    <a:pt x="838524" y="524466"/>
                  </a:cubicBezTo>
                  <a:lnTo>
                    <a:pt x="137152" y="524466"/>
                  </a:lnTo>
                  <a:cubicBezTo>
                    <a:pt x="100777" y="524466"/>
                    <a:pt x="65892" y="510016"/>
                    <a:pt x="40171" y="484295"/>
                  </a:cubicBezTo>
                  <a:cubicBezTo>
                    <a:pt x="14450" y="458574"/>
                    <a:pt x="0" y="423689"/>
                    <a:pt x="0" y="387314"/>
                  </a:cubicBezTo>
                  <a:lnTo>
                    <a:pt x="0" y="137152"/>
                  </a:lnTo>
                  <a:cubicBezTo>
                    <a:pt x="0" y="100777"/>
                    <a:pt x="14450" y="65892"/>
                    <a:pt x="40171" y="40171"/>
                  </a:cubicBezTo>
                  <a:cubicBezTo>
                    <a:pt x="65892" y="14450"/>
                    <a:pt x="100777" y="0"/>
                    <a:pt x="137152" y="0"/>
                  </a:cubicBezTo>
                  <a:close/>
                </a:path>
              </a:pathLst>
            </a:custGeom>
            <a:solidFill>
              <a:srgbClr val="464648"/>
            </a:solidFill>
          </p:spPr>
        </p:sp>
        <p:sp>
          <p:nvSpPr>
            <p:cNvPr name="TextBox 13" id="13"/>
            <p:cNvSpPr txBox="true"/>
            <p:nvPr/>
          </p:nvSpPr>
          <p:spPr>
            <a:xfrm>
              <a:off x="0" y="0"/>
              <a:ext cx="975676" cy="524466"/>
            </a:xfrm>
            <a:prstGeom prst="rect">
              <a:avLst/>
            </a:prstGeom>
          </p:spPr>
          <p:txBody>
            <a:bodyPr anchor="ctr" rtlCol="false" tIns="50800" lIns="50800" bIns="50800" rIns="50800"/>
            <a:lstStyle/>
            <a:p>
              <a:pPr algn="ctr">
                <a:lnSpc>
                  <a:spcPts val="3024"/>
                </a:lnSpc>
              </a:pPr>
              <a:r>
                <a:rPr lang="en-US" sz="2520">
                  <a:solidFill>
                    <a:srgbClr val="FFFFFF"/>
                  </a:solidFill>
                  <a:latin typeface="Source Serif Pro"/>
                  <a:ea typeface="Source Serif Pro"/>
                  <a:cs typeface="Source Serif Pro"/>
                  <a:sym typeface="Source Serif Pro"/>
                </a:rPr>
                <a:t>Perancangan UI/UX</a:t>
              </a:r>
            </a:p>
          </p:txBody>
        </p:sp>
      </p:grpSp>
      <p:grpSp>
        <p:nvGrpSpPr>
          <p:cNvPr name="Group 14" id="14"/>
          <p:cNvGrpSpPr/>
          <p:nvPr/>
        </p:nvGrpSpPr>
        <p:grpSpPr>
          <a:xfrm rot="0">
            <a:off x="7072943" y="6184269"/>
            <a:ext cx="675638" cy="771610"/>
            <a:chOff x="0" y="0"/>
            <a:chExt cx="711704" cy="812800"/>
          </a:xfrm>
        </p:grpSpPr>
        <p:sp>
          <p:nvSpPr>
            <p:cNvPr name="Freeform 15" id="15"/>
            <p:cNvSpPr/>
            <p:nvPr/>
          </p:nvSpPr>
          <p:spPr>
            <a:xfrm flipH="false" flipV="false" rot="0">
              <a:off x="0" y="0"/>
              <a:ext cx="711704" cy="812800"/>
            </a:xfrm>
            <a:custGeom>
              <a:avLst/>
              <a:gdLst/>
              <a:ahLst/>
              <a:cxnLst/>
              <a:rect r="r" b="b" t="t" l="l"/>
              <a:pathLst>
                <a:path h="812800" w="711704">
                  <a:moveTo>
                    <a:pt x="711704" y="406400"/>
                  </a:moveTo>
                  <a:lnTo>
                    <a:pt x="305304" y="0"/>
                  </a:lnTo>
                  <a:lnTo>
                    <a:pt x="305304" y="203200"/>
                  </a:lnTo>
                  <a:lnTo>
                    <a:pt x="0" y="203200"/>
                  </a:lnTo>
                  <a:lnTo>
                    <a:pt x="0" y="609600"/>
                  </a:lnTo>
                  <a:lnTo>
                    <a:pt x="305304" y="609600"/>
                  </a:lnTo>
                  <a:lnTo>
                    <a:pt x="305304" y="812800"/>
                  </a:lnTo>
                  <a:lnTo>
                    <a:pt x="711704" y="406400"/>
                  </a:lnTo>
                  <a:close/>
                </a:path>
              </a:pathLst>
            </a:custGeom>
            <a:solidFill>
              <a:srgbClr val="818183"/>
            </a:solidFill>
          </p:spPr>
        </p:sp>
        <p:sp>
          <p:nvSpPr>
            <p:cNvPr name="TextBox 16" id="16"/>
            <p:cNvSpPr txBox="true"/>
            <p:nvPr/>
          </p:nvSpPr>
          <p:spPr>
            <a:xfrm>
              <a:off x="0" y="203200"/>
              <a:ext cx="610104" cy="406400"/>
            </a:xfrm>
            <a:prstGeom prst="rect">
              <a:avLst/>
            </a:prstGeom>
          </p:spPr>
          <p:txBody>
            <a:bodyPr anchor="ctr" rtlCol="false" tIns="50800" lIns="50800" bIns="50800" rIns="50800"/>
            <a:lstStyle/>
            <a:p>
              <a:pPr algn="ctr">
                <a:lnSpc>
                  <a:spcPts val="3024"/>
                </a:lnSpc>
              </a:pPr>
            </a:p>
          </p:txBody>
        </p:sp>
      </p:grpSp>
      <p:grpSp>
        <p:nvGrpSpPr>
          <p:cNvPr name="Group 17" id="17"/>
          <p:cNvGrpSpPr/>
          <p:nvPr/>
        </p:nvGrpSpPr>
        <p:grpSpPr>
          <a:xfrm rot="0">
            <a:off x="7824781" y="5796329"/>
            <a:ext cx="2878835" cy="1547491"/>
            <a:chOff x="0" y="0"/>
            <a:chExt cx="975676" cy="524466"/>
          </a:xfrm>
        </p:grpSpPr>
        <p:sp>
          <p:nvSpPr>
            <p:cNvPr name="Freeform 18" id="18"/>
            <p:cNvSpPr/>
            <p:nvPr/>
          </p:nvSpPr>
          <p:spPr>
            <a:xfrm flipH="false" flipV="false" rot="0">
              <a:off x="0" y="0"/>
              <a:ext cx="975676" cy="524466"/>
            </a:xfrm>
            <a:custGeom>
              <a:avLst/>
              <a:gdLst/>
              <a:ahLst/>
              <a:cxnLst/>
              <a:rect r="r" b="b" t="t" l="l"/>
              <a:pathLst>
                <a:path h="524466" w="975676">
                  <a:moveTo>
                    <a:pt x="137152" y="0"/>
                  </a:moveTo>
                  <a:lnTo>
                    <a:pt x="838524" y="0"/>
                  </a:lnTo>
                  <a:cubicBezTo>
                    <a:pt x="874899" y="0"/>
                    <a:pt x="909784" y="14450"/>
                    <a:pt x="935505" y="40171"/>
                  </a:cubicBezTo>
                  <a:cubicBezTo>
                    <a:pt x="961226" y="65892"/>
                    <a:pt x="975676" y="100777"/>
                    <a:pt x="975676" y="137152"/>
                  </a:cubicBezTo>
                  <a:lnTo>
                    <a:pt x="975676" y="387314"/>
                  </a:lnTo>
                  <a:cubicBezTo>
                    <a:pt x="975676" y="423689"/>
                    <a:pt x="961226" y="458574"/>
                    <a:pt x="935505" y="484295"/>
                  </a:cubicBezTo>
                  <a:cubicBezTo>
                    <a:pt x="909784" y="510016"/>
                    <a:pt x="874899" y="524466"/>
                    <a:pt x="838524" y="524466"/>
                  </a:cubicBezTo>
                  <a:lnTo>
                    <a:pt x="137152" y="524466"/>
                  </a:lnTo>
                  <a:cubicBezTo>
                    <a:pt x="100777" y="524466"/>
                    <a:pt x="65892" y="510016"/>
                    <a:pt x="40171" y="484295"/>
                  </a:cubicBezTo>
                  <a:cubicBezTo>
                    <a:pt x="14450" y="458574"/>
                    <a:pt x="0" y="423689"/>
                    <a:pt x="0" y="387314"/>
                  </a:cubicBezTo>
                  <a:lnTo>
                    <a:pt x="0" y="137152"/>
                  </a:lnTo>
                  <a:cubicBezTo>
                    <a:pt x="0" y="100777"/>
                    <a:pt x="14450" y="65892"/>
                    <a:pt x="40171" y="40171"/>
                  </a:cubicBezTo>
                  <a:cubicBezTo>
                    <a:pt x="65892" y="14450"/>
                    <a:pt x="100777" y="0"/>
                    <a:pt x="137152" y="0"/>
                  </a:cubicBezTo>
                  <a:close/>
                </a:path>
              </a:pathLst>
            </a:custGeom>
            <a:solidFill>
              <a:srgbClr val="464648"/>
            </a:solidFill>
          </p:spPr>
        </p:sp>
        <p:sp>
          <p:nvSpPr>
            <p:cNvPr name="TextBox 19" id="19"/>
            <p:cNvSpPr txBox="true"/>
            <p:nvPr/>
          </p:nvSpPr>
          <p:spPr>
            <a:xfrm>
              <a:off x="0" y="0"/>
              <a:ext cx="975676" cy="524466"/>
            </a:xfrm>
            <a:prstGeom prst="rect">
              <a:avLst/>
            </a:prstGeom>
          </p:spPr>
          <p:txBody>
            <a:bodyPr anchor="ctr" rtlCol="false" tIns="50800" lIns="50800" bIns="50800" rIns="50800"/>
            <a:lstStyle/>
            <a:p>
              <a:pPr algn="ctr">
                <a:lnSpc>
                  <a:spcPts val="3024"/>
                </a:lnSpc>
              </a:pPr>
              <a:r>
                <a:rPr lang="en-US" sz="2520">
                  <a:solidFill>
                    <a:srgbClr val="FFFFFF"/>
                  </a:solidFill>
                  <a:latin typeface="Source Serif Pro"/>
                  <a:ea typeface="Source Serif Pro"/>
                  <a:cs typeface="Source Serif Pro"/>
                  <a:sym typeface="Source Serif Pro"/>
                </a:rPr>
                <a:t>Perancangan Basis Data</a:t>
              </a:r>
            </a:p>
          </p:txBody>
        </p:sp>
      </p:grpSp>
      <p:grpSp>
        <p:nvGrpSpPr>
          <p:cNvPr name="Group 20" id="20"/>
          <p:cNvGrpSpPr/>
          <p:nvPr/>
        </p:nvGrpSpPr>
        <p:grpSpPr>
          <a:xfrm rot="0">
            <a:off x="10779816" y="6184269"/>
            <a:ext cx="675638" cy="771610"/>
            <a:chOff x="0" y="0"/>
            <a:chExt cx="711704" cy="812800"/>
          </a:xfrm>
        </p:grpSpPr>
        <p:sp>
          <p:nvSpPr>
            <p:cNvPr name="Freeform 21" id="21"/>
            <p:cNvSpPr/>
            <p:nvPr/>
          </p:nvSpPr>
          <p:spPr>
            <a:xfrm flipH="false" flipV="false" rot="0">
              <a:off x="0" y="0"/>
              <a:ext cx="711704" cy="812800"/>
            </a:xfrm>
            <a:custGeom>
              <a:avLst/>
              <a:gdLst/>
              <a:ahLst/>
              <a:cxnLst/>
              <a:rect r="r" b="b" t="t" l="l"/>
              <a:pathLst>
                <a:path h="812800" w="711704">
                  <a:moveTo>
                    <a:pt x="711704" y="406400"/>
                  </a:moveTo>
                  <a:lnTo>
                    <a:pt x="305304" y="0"/>
                  </a:lnTo>
                  <a:lnTo>
                    <a:pt x="305304" y="203200"/>
                  </a:lnTo>
                  <a:lnTo>
                    <a:pt x="0" y="203200"/>
                  </a:lnTo>
                  <a:lnTo>
                    <a:pt x="0" y="609600"/>
                  </a:lnTo>
                  <a:lnTo>
                    <a:pt x="305304" y="609600"/>
                  </a:lnTo>
                  <a:lnTo>
                    <a:pt x="305304" y="812800"/>
                  </a:lnTo>
                  <a:lnTo>
                    <a:pt x="711704" y="406400"/>
                  </a:lnTo>
                  <a:close/>
                </a:path>
              </a:pathLst>
            </a:custGeom>
            <a:solidFill>
              <a:srgbClr val="818183"/>
            </a:solidFill>
          </p:spPr>
        </p:sp>
        <p:sp>
          <p:nvSpPr>
            <p:cNvPr name="TextBox 22" id="22"/>
            <p:cNvSpPr txBox="true"/>
            <p:nvPr/>
          </p:nvSpPr>
          <p:spPr>
            <a:xfrm>
              <a:off x="0" y="203200"/>
              <a:ext cx="610104" cy="406400"/>
            </a:xfrm>
            <a:prstGeom prst="rect">
              <a:avLst/>
            </a:prstGeom>
          </p:spPr>
          <p:txBody>
            <a:bodyPr anchor="ctr" rtlCol="false" tIns="50800" lIns="50800" bIns="50800" rIns="50800"/>
            <a:lstStyle/>
            <a:p>
              <a:pPr algn="ctr">
                <a:lnSpc>
                  <a:spcPts val="3024"/>
                </a:lnSpc>
              </a:pPr>
            </a:p>
          </p:txBody>
        </p:sp>
      </p:grpSp>
      <p:grpSp>
        <p:nvGrpSpPr>
          <p:cNvPr name="Group 23" id="23"/>
          <p:cNvGrpSpPr/>
          <p:nvPr/>
        </p:nvGrpSpPr>
        <p:grpSpPr>
          <a:xfrm rot="0">
            <a:off x="11531654" y="5796329"/>
            <a:ext cx="2878835" cy="1547491"/>
            <a:chOff x="0" y="0"/>
            <a:chExt cx="975676" cy="524466"/>
          </a:xfrm>
        </p:grpSpPr>
        <p:sp>
          <p:nvSpPr>
            <p:cNvPr name="Freeform 24" id="24"/>
            <p:cNvSpPr/>
            <p:nvPr/>
          </p:nvSpPr>
          <p:spPr>
            <a:xfrm flipH="false" flipV="false" rot="0">
              <a:off x="0" y="0"/>
              <a:ext cx="975676" cy="524466"/>
            </a:xfrm>
            <a:custGeom>
              <a:avLst/>
              <a:gdLst/>
              <a:ahLst/>
              <a:cxnLst/>
              <a:rect r="r" b="b" t="t" l="l"/>
              <a:pathLst>
                <a:path h="524466" w="975676">
                  <a:moveTo>
                    <a:pt x="137152" y="0"/>
                  </a:moveTo>
                  <a:lnTo>
                    <a:pt x="838524" y="0"/>
                  </a:lnTo>
                  <a:cubicBezTo>
                    <a:pt x="874899" y="0"/>
                    <a:pt x="909784" y="14450"/>
                    <a:pt x="935505" y="40171"/>
                  </a:cubicBezTo>
                  <a:cubicBezTo>
                    <a:pt x="961226" y="65892"/>
                    <a:pt x="975676" y="100777"/>
                    <a:pt x="975676" y="137152"/>
                  </a:cubicBezTo>
                  <a:lnTo>
                    <a:pt x="975676" y="387314"/>
                  </a:lnTo>
                  <a:cubicBezTo>
                    <a:pt x="975676" y="423689"/>
                    <a:pt x="961226" y="458574"/>
                    <a:pt x="935505" y="484295"/>
                  </a:cubicBezTo>
                  <a:cubicBezTo>
                    <a:pt x="909784" y="510016"/>
                    <a:pt x="874899" y="524466"/>
                    <a:pt x="838524" y="524466"/>
                  </a:cubicBezTo>
                  <a:lnTo>
                    <a:pt x="137152" y="524466"/>
                  </a:lnTo>
                  <a:cubicBezTo>
                    <a:pt x="100777" y="524466"/>
                    <a:pt x="65892" y="510016"/>
                    <a:pt x="40171" y="484295"/>
                  </a:cubicBezTo>
                  <a:cubicBezTo>
                    <a:pt x="14450" y="458574"/>
                    <a:pt x="0" y="423689"/>
                    <a:pt x="0" y="387314"/>
                  </a:cubicBezTo>
                  <a:lnTo>
                    <a:pt x="0" y="137152"/>
                  </a:lnTo>
                  <a:cubicBezTo>
                    <a:pt x="0" y="100777"/>
                    <a:pt x="14450" y="65892"/>
                    <a:pt x="40171" y="40171"/>
                  </a:cubicBezTo>
                  <a:cubicBezTo>
                    <a:pt x="65892" y="14450"/>
                    <a:pt x="100777" y="0"/>
                    <a:pt x="137152" y="0"/>
                  </a:cubicBezTo>
                  <a:close/>
                </a:path>
              </a:pathLst>
            </a:custGeom>
            <a:solidFill>
              <a:srgbClr val="464648"/>
            </a:solidFill>
          </p:spPr>
        </p:sp>
        <p:sp>
          <p:nvSpPr>
            <p:cNvPr name="TextBox 25" id="25"/>
            <p:cNvSpPr txBox="true"/>
            <p:nvPr/>
          </p:nvSpPr>
          <p:spPr>
            <a:xfrm>
              <a:off x="0" y="0"/>
              <a:ext cx="975676" cy="524466"/>
            </a:xfrm>
            <a:prstGeom prst="rect">
              <a:avLst/>
            </a:prstGeom>
          </p:spPr>
          <p:txBody>
            <a:bodyPr anchor="ctr" rtlCol="false" tIns="50800" lIns="50800" bIns="50800" rIns="50800"/>
            <a:lstStyle/>
            <a:p>
              <a:pPr algn="ctr">
                <a:lnSpc>
                  <a:spcPts val="3024"/>
                </a:lnSpc>
              </a:pPr>
              <a:r>
                <a:rPr lang="en-US" sz="2520">
                  <a:solidFill>
                    <a:srgbClr val="FFFFFF"/>
                  </a:solidFill>
                  <a:latin typeface="Source Serif Pro"/>
                  <a:ea typeface="Source Serif Pro"/>
                  <a:cs typeface="Source Serif Pro"/>
                  <a:sym typeface="Source Serif Pro"/>
                </a:rPr>
                <a:t>Implementasi</a:t>
              </a:r>
            </a:p>
          </p:txBody>
        </p:sp>
      </p:grpSp>
      <p:grpSp>
        <p:nvGrpSpPr>
          <p:cNvPr name="Group 26" id="26"/>
          <p:cNvGrpSpPr/>
          <p:nvPr/>
        </p:nvGrpSpPr>
        <p:grpSpPr>
          <a:xfrm rot="0">
            <a:off x="14486689" y="6184269"/>
            <a:ext cx="675638" cy="771610"/>
            <a:chOff x="0" y="0"/>
            <a:chExt cx="711704" cy="812800"/>
          </a:xfrm>
        </p:grpSpPr>
        <p:sp>
          <p:nvSpPr>
            <p:cNvPr name="Freeform 27" id="27"/>
            <p:cNvSpPr/>
            <p:nvPr/>
          </p:nvSpPr>
          <p:spPr>
            <a:xfrm flipH="false" flipV="false" rot="0">
              <a:off x="0" y="0"/>
              <a:ext cx="711704" cy="812800"/>
            </a:xfrm>
            <a:custGeom>
              <a:avLst/>
              <a:gdLst/>
              <a:ahLst/>
              <a:cxnLst/>
              <a:rect r="r" b="b" t="t" l="l"/>
              <a:pathLst>
                <a:path h="812800" w="711704">
                  <a:moveTo>
                    <a:pt x="711704" y="406400"/>
                  </a:moveTo>
                  <a:lnTo>
                    <a:pt x="305304" y="0"/>
                  </a:lnTo>
                  <a:lnTo>
                    <a:pt x="305304" y="203200"/>
                  </a:lnTo>
                  <a:lnTo>
                    <a:pt x="0" y="203200"/>
                  </a:lnTo>
                  <a:lnTo>
                    <a:pt x="0" y="609600"/>
                  </a:lnTo>
                  <a:lnTo>
                    <a:pt x="305304" y="609600"/>
                  </a:lnTo>
                  <a:lnTo>
                    <a:pt x="305304" y="812800"/>
                  </a:lnTo>
                  <a:lnTo>
                    <a:pt x="711704" y="406400"/>
                  </a:lnTo>
                  <a:close/>
                </a:path>
              </a:pathLst>
            </a:custGeom>
            <a:solidFill>
              <a:srgbClr val="818183"/>
            </a:solidFill>
          </p:spPr>
        </p:sp>
        <p:sp>
          <p:nvSpPr>
            <p:cNvPr name="TextBox 28" id="28"/>
            <p:cNvSpPr txBox="true"/>
            <p:nvPr/>
          </p:nvSpPr>
          <p:spPr>
            <a:xfrm>
              <a:off x="0" y="203200"/>
              <a:ext cx="610104" cy="406400"/>
            </a:xfrm>
            <a:prstGeom prst="rect">
              <a:avLst/>
            </a:prstGeom>
          </p:spPr>
          <p:txBody>
            <a:bodyPr anchor="ctr" rtlCol="false" tIns="50800" lIns="50800" bIns="50800" rIns="50800"/>
            <a:lstStyle/>
            <a:p>
              <a:pPr algn="ctr">
                <a:lnSpc>
                  <a:spcPts val="3024"/>
                </a:lnSpc>
              </a:pPr>
            </a:p>
          </p:txBody>
        </p:sp>
      </p:grpSp>
      <p:grpSp>
        <p:nvGrpSpPr>
          <p:cNvPr name="Group 29" id="29"/>
          <p:cNvGrpSpPr/>
          <p:nvPr/>
        </p:nvGrpSpPr>
        <p:grpSpPr>
          <a:xfrm rot="0">
            <a:off x="15238527" y="5796329"/>
            <a:ext cx="2878835" cy="1547491"/>
            <a:chOff x="0" y="0"/>
            <a:chExt cx="975676" cy="524466"/>
          </a:xfrm>
        </p:grpSpPr>
        <p:sp>
          <p:nvSpPr>
            <p:cNvPr name="Freeform 30" id="30"/>
            <p:cNvSpPr/>
            <p:nvPr/>
          </p:nvSpPr>
          <p:spPr>
            <a:xfrm flipH="false" flipV="false" rot="0">
              <a:off x="0" y="0"/>
              <a:ext cx="975676" cy="524466"/>
            </a:xfrm>
            <a:custGeom>
              <a:avLst/>
              <a:gdLst/>
              <a:ahLst/>
              <a:cxnLst/>
              <a:rect r="r" b="b" t="t" l="l"/>
              <a:pathLst>
                <a:path h="524466" w="975676">
                  <a:moveTo>
                    <a:pt x="137152" y="0"/>
                  </a:moveTo>
                  <a:lnTo>
                    <a:pt x="838524" y="0"/>
                  </a:lnTo>
                  <a:cubicBezTo>
                    <a:pt x="874899" y="0"/>
                    <a:pt x="909784" y="14450"/>
                    <a:pt x="935505" y="40171"/>
                  </a:cubicBezTo>
                  <a:cubicBezTo>
                    <a:pt x="961226" y="65892"/>
                    <a:pt x="975676" y="100777"/>
                    <a:pt x="975676" y="137152"/>
                  </a:cubicBezTo>
                  <a:lnTo>
                    <a:pt x="975676" y="387314"/>
                  </a:lnTo>
                  <a:cubicBezTo>
                    <a:pt x="975676" y="423689"/>
                    <a:pt x="961226" y="458574"/>
                    <a:pt x="935505" y="484295"/>
                  </a:cubicBezTo>
                  <a:cubicBezTo>
                    <a:pt x="909784" y="510016"/>
                    <a:pt x="874899" y="524466"/>
                    <a:pt x="838524" y="524466"/>
                  </a:cubicBezTo>
                  <a:lnTo>
                    <a:pt x="137152" y="524466"/>
                  </a:lnTo>
                  <a:cubicBezTo>
                    <a:pt x="100777" y="524466"/>
                    <a:pt x="65892" y="510016"/>
                    <a:pt x="40171" y="484295"/>
                  </a:cubicBezTo>
                  <a:cubicBezTo>
                    <a:pt x="14450" y="458574"/>
                    <a:pt x="0" y="423689"/>
                    <a:pt x="0" y="387314"/>
                  </a:cubicBezTo>
                  <a:lnTo>
                    <a:pt x="0" y="137152"/>
                  </a:lnTo>
                  <a:cubicBezTo>
                    <a:pt x="0" y="100777"/>
                    <a:pt x="14450" y="65892"/>
                    <a:pt x="40171" y="40171"/>
                  </a:cubicBezTo>
                  <a:cubicBezTo>
                    <a:pt x="65892" y="14450"/>
                    <a:pt x="100777" y="0"/>
                    <a:pt x="137152" y="0"/>
                  </a:cubicBezTo>
                  <a:close/>
                </a:path>
              </a:pathLst>
            </a:custGeom>
            <a:solidFill>
              <a:srgbClr val="464648"/>
            </a:solidFill>
          </p:spPr>
        </p:sp>
        <p:sp>
          <p:nvSpPr>
            <p:cNvPr name="TextBox 31" id="31"/>
            <p:cNvSpPr txBox="true"/>
            <p:nvPr/>
          </p:nvSpPr>
          <p:spPr>
            <a:xfrm>
              <a:off x="0" y="0"/>
              <a:ext cx="975676" cy="524466"/>
            </a:xfrm>
            <a:prstGeom prst="rect">
              <a:avLst/>
            </a:prstGeom>
          </p:spPr>
          <p:txBody>
            <a:bodyPr anchor="ctr" rtlCol="false" tIns="50800" lIns="50800" bIns="50800" rIns="50800"/>
            <a:lstStyle/>
            <a:p>
              <a:pPr algn="ctr">
                <a:lnSpc>
                  <a:spcPts val="3024"/>
                </a:lnSpc>
              </a:pPr>
              <a:r>
                <a:rPr lang="en-US" sz="2520">
                  <a:solidFill>
                    <a:srgbClr val="FFFFFF"/>
                  </a:solidFill>
                  <a:latin typeface="Source Serif Pro"/>
                  <a:ea typeface="Source Serif Pro"/>
                  <a:cs typeface="Source Serif Pro"/>
                  <a:sym typeface="Source Serif Pro"/>
                </a:rPr>
                <a:t>Pengujian</a:t>
              </a:r>
            </a:p>
          </p:txBody>
        </p:sp>
      </p:grpSp>
      <p:sp>
        <p:nvSpPr>
          <p:cNvPr name="TextBox 32" id="32"/>
          <p:cNvSpPr txBox="true"/>
          <p:nvPr/>
        </p:nvSpPr>
        <p:spPr>
          <a:xfrm rot="0">
            <a:off x="1252164" y="4938545"/>
            <a:ext cx="975138" cy="4572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Juli</a:t>
            </a:r>
          </a:p>
        </p:txBody>
      </p:sp>
      <p:sp>
        <p:nvSpPr>
          <p:cNvPr name="TextBox 33" id="33"/>
          <p:cNvSpPr txBox="true"/>
          <p:nvPr/>
        </p:nvSpPr>
        <p:spPr>
          <a:xfrm rot="0">
            <a:off x="4386823" y="4938545"/>
            <a:ext cx="2341005" cy="4572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Juli-Oktober</a:t>
            </a:r>
          </a:p>
        </p:txBody>
      </p:sp>
      <p:sp>
        <p:nvSpPr>
          <p:cNvPr name="TextBox 34" id="34"/>
          <p:cNvSpPr txBox="true"/>
          <p:nvPr/>
        </p:nvSpPr>
        <p:spPr>
          <a:xfrm rot="0">
            <a:off x="8093696" y="4709945"/>
            <a:ext cx="2341005" cy="9144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September -November</a:t>
            </a:r>
          </a:p>
        </p:txBody>
      </p:sp>
      <p:sp>
        <p:nvSpPr>
          <p:cNvPr name="TextBox 35" id="35"/>
          <p:cNvSpPr txBox="true"/>
          <p:nvPr/>
        </p:nvSpPr>
        <p:spPr>
          <a:xfrm rot="0">
            <a:off x="11800568" y="4709945"/>
            <a:ext cx="2341005" cy="914400"/>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September -November</a:t>
            </a:r>
          </a:p>
        </p:txBody>
      </p:sp>
      <p:sp>
        <p:nvSpPr>
          <p:cNvPr name="TextBox 36" id="36"/>
          <p:cNvSpPr txBox="true"/>
          <p:nvPr/>
        </p:nvSpPr>
        <p:spPr>
          <a:xfrm rot="0">
            <a:off x="15507441" y="4709945"/>
            <a:ext cx="2341005" cy="914400"/>
          </a:xfrm>
          <a:prstGeom prst="rect">
            <a:avLst/>
          </a:prstGeom>
        </p:spPr>
        <p:txBody>
          <a:bodyPr anchor="t" rtlCol="false" tIns="0" lIns="0" bIns="0" rIns="0">
            <a:spAutoFit/>
          </a:bodyPr>
          <a:lstStyle/>
          <a:p>
            <a:pPr algn="ctr">
              <a:lnSpc>
                <a:spcPts val="3600"/>
              </a:lnSpc>
            </a:pPr>
            <a:r>
              <a:rPr lang="en-US" b="true" sz="3000">
                <a:solidFill>
                  <a:srgbClr val="2E3127"/>
                </a:solidFill>
                <a:latin typeface="Source Serif Pro Bold"/>
                <a:ea typeface="Source Serif Pro Bold"/>
                <a:cs typeface="Source Serif Pro Bold"/>
                <a:sym typeface="Source Serif Pro Bold"/>
              </a:rPr>
              <a:t>Oktober -November</a:t>
            </a:r>
          </a:p>
        </p:txBody>
      </p:sp>
      <p:sp>
        <p:nvSpPr>
          <p:cNvPr name="TextBox 37" id="37"/>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51" r="0" b="-12851"/>
            </a:stretch>
          </a:blipFill>
        </p:spPr>
      </p:sp>
      <p:grpSp>
        <p:nvGrpSpPr>
          <p:cNvPr name="Group 3" id="3"/>
          <p:cNvGrpSpPr/>
          <p:nvPr/>
        </p:nvGrpSpPr>
        <p:grpSpPr>
          <a:xfrm rot="0">
            <a:off x="1619535" y="2893250"/>
            <a:ext cx="15048931" cy="6575075"/>
            <a:chOff x="0" y="0"/>
            <a:chExt cx="3482903" cy="1521726"/>
          </a:xfrm>
        </p:grpSpPr>
        <p:sp>
          <p:nvSpPr>
            <p:cNvPr name="Freeform 4" id="4"/>
            <p:cNvSpPr/>
            <p:nvPr/>
          </p:nvSpPr>
          <p:spPr>
            <a:xfrm flipH="false" flipV="false" rot="0">
              <a:off x="0" y="0"/>
              <a:ext cx="3482903" cy="1521726"/>
            </a:xfrm>
            <a:custGeom>
              <a:avLst/>
              <a:gdLst/>
              <a:ahLst/>
              <a:cxnLst/>
              <a:rect r="r" b="b" t="t" l="l"/>
              <a:pathLst>
                <a:path h="1521726" w="3482903">
                  <a:moveTo>
                    <a:pt x="20064" y="0"/>
                  </a:moveTo>
                  <a:lnTo>
                    <a:pt x="3462840" y="0"/>
                  </a:lnTo>
                  <a:cubicBezTo>
                    <a:pt x="3468161" y="0"/>
                    <a:pt x="3473264" y="2114"/>
                    <a:pt x="3477027" y="5876"/>
                  </a:cubicBezTo>
                  <a:cubicBezTo>
                    <a:pt x="3480789" y="9639"/>
                    <a:pt x="3482903" y="14742"/>
                    <a:pt x="3482903" y="20064"/>
                  </a:cubicBezTo>
                  <a:lnTo>
                    <a:pt x="3482903" y="1501663"/>
                  </a:lnTo>
                  <a:cubicBezTo>
                    <a:pt x="3482903" y="1512743"/>
                    <a:pt x="3473921" y="1521726"/>
                    <a:pt x="3462840" y="1521726"/>
                  </a:cubicBezTo>
                  <a:lnTo>
                    <a:pt x="20064" y="1521726"/>
                  </a:lnTo>
                  <a:cubicBezTo>
                    <a:pt x="8983" y="1521726"/>
                    <a:pt x="0" y="1512743"/>
                    <a:pt x="0" y="1501663"/>
                  </a:cubicBezTo>
                  <a:lnTo>
                    <a:pt x="0" y="20064"/>
                  </a:lnTo>
                  <a:cubicBezTo>
                    <a:pt x="0" y="8983"/>
                    <a:pt x="8983" y="0"/>
                    <a:pt x="20064" y="0"/>
                  </a:cubicBezTo>
                  <a:close/>
                </a:path>
              </a:pathLst>
            </a:custGeom>
            <a:solidFill>
              <a:srgbClr val="000000">
                <a:alpha val="0"/>
              </a:srgbClr>
            </a:solidFill>
            <a:ln w="19050" cap="rnd">
              <a:solidFill>
                <a:srgbClr val="000000"/>
              </a:solidFill>
              <a:prstDash val="solid"/>
              <a:round/>
            </a:ln>
          </p:spPr>
        </p:sp>
        <p:sp>
          <p:nvSpPr>
            <p:cNvPr name="TextBox 5" id="5"/>
            <p:cNvSpPr txBox="true"/>
            <p:nvPr/>
          </p:nvSpPr>
          <p:spPr>
            <a:xfrm>
              <a:off x="0" y="0"/>
              <a:ext cx="3482903" cy="1521726"/>
            </a:xfrm>
            <a:prstGeom prst="rect">
              <a:avLst/>
            </a:prstGeom>
          </p:spPr>
          <p:txBody>
            <a:bodyPr anchor="ctr" rtlCol="false" tIns="50800" lIns="50800" bIns="50800" rIns="50800"/>
            <a:lstStyle/>
            <a:p>
              <a:pPr algn="ctr">
                <a:lnSpc>
                  <a:spcPts val="3024"/>
                </a:lnSpc>
              </a:pPr>
            </a:p>
          </p:txBody>
        </p:sp>
      </p:grpSp>
      <p:sp>
        <p:nvSpPr>
          <p:cNvPr name="Freeform 6" id="6"/>
          <p:cNvSpPr/>
          <p:nvPr/>
        </p:nvSpPr>
        <p:spPr>
          <a:xfrm flipH="false" flipV="false" rot="0">
            <a:off x="2259378" y="3436116"/>
            <a:ext cx="13764768" cy="4576785"/>
          </a:xfrm>
          <a:custGeom>
            <a:avLst/>
            <a:gdLst/>
            <a:ahLst/>
            <a:cxnLst/>
            <a:rect r="r" b="b" t="t" l="l"/>
            <a:pathLst>
              <a:path h="4576785" w="13764768">
                <a:moveTo>
                  <a:pt x="0" y="0"/>
                </a:moveTo>
                <a:lnTo>
                  <a:pt x="13764768" y="0"/>
                </a:lnTo>
                <a:lnTo>
                  <a:pt x="13764768" y="4576785"/>
                </a:lnTo>
                <a:lnTo>
                  <a:pt x="0" y="4576785"/>
                </a:lnTo>
                <a:lnTo>
                  <a:pt x="0" y="0"/>
                </a:lnTo>
                <a:close/>
              </a:path>
            </a:pathLst>
          </a:custGeom>
          <a:blipFill>
            <a:blip r:embed="rId4"/>
            <a:stretch>
              <a:fillRect l="0" t="0" r="0" b="0"/>
            </a:stretch>
          </a:blipFill>
        </p:spPr>
      </p:sp>
      <p:sp>
        <p:nvSpPr>
          <p:cNvPr name="TextBox 7" id="7"/>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13</a:t>
            </a:r>
          </a:p>
        </p:txBody>
      </p:sp>
      <p:sp>
        <p:nvSpPr>
          <p:cNvPr name="TextBox 8" id="8"/>
          <p:cNvSpPr txBox="true"/>
          <p:nvPr/>
        </p:nvSpPr>
        <p:spPr>
          <a:xfrm rot="0">
            <a:off x="4630734" y="1209675"/>
            <a:ext cx="9026531" cy="1271380"/>
          </a:xfrm>
          <a:prstGeom prst="rect">
            <a:avLst/>
          </a:prstGeom>
        </p:spPr>
        <p:txBody>
          <a:bodyPr anchor="t" rtlCol="false" tIns="0" lIns="0" bIns="0" rIns="0">
            <a:spAutoFit/>
          </a:bodyPr>
          <a:lstStyle/>
          <a:p>
            <a:pPr algn="ctr" marL="0" indent="0" lvl="0">
              <a:lnSpc>
                <a:spcPts val="9554"/>
              </a:lnSpc>
            </a:pPr>
            <a:r>
              <a:rPr lang="en-US" b="true" sz="9554">
                <a:solidFill>
                  <a:srgbClr val="2E3127"/>
                </a:solidFill>
                <a:latin typeface="Cinzel Bold"/>
                <a:ea typeface="Cinzel Bold"/>
                <a:cs typeface="Cinzel Bold"/>
                <a:sym typeface="Cinzel Bold"/>
              </a:rPr>
              <a:t>MAN-MONTH</a:t>
            </a:r>
          </a:p>
        </p:txBody>
      </p:sp>
      <p:sp>
        <p:nvSpPr>
          <p:cNvPr name="TextBox 9" id="9"/>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51" r="0" b="-12851"/>
            </a:stretch>
          </a:blipFill>
        </p:spPr>
      </p:sp>
      <p:grpSp>
        <p:nvGrpSpPr>
          <p:cNvPr name="Group 3" id="3"/>
          <p:cNvGrpSpPr/>
          <p:nvPr/>
        </p:nvGrpSpPr>
        <p:grpSpPr>
          <a:xfrm rot="0">
            <a:off x="1619535" y="2893250"/>
            <a:ext cx="15048931" cy="6575075"/>
            <a:chOff x="0" y="0"/>
            <a:chExt cx="3482903" cy="1521726"/>
          </a:xfrm>
        </p:grpSpPr>
        <p:sp>
          <p:nvSpPr>
            <p:cNvPr name="Freeform 4" id="4"/>
            <p:cNvSpPr/>
            <p:nvPr/>
          </p:nvSpPr>
          <p:spPr>
            <a:xfrm flipH="false" flipV="false" rot="0">
              <a:off x="0" y="0"/>
              <a:ext cx="3482903" cy="1521726"/>
            </a:xfrm>
            <a:custGeom>
              <a:avLst/>
              <a:gdLst/>
              <a:ahLst/>
              <a:cxnLst/>
              <a:rect r="r" b="b" t="t" l="l"/>
              <a:pathLst>
                <a:path h="1521726" w="3482903">
                  <a:moveTo>
                    <a:pt x="20064" y="0"/>
                  </a:moveTo>
                  <a:lnTo>
                    <a:pt x="3462840" y="0"/>
                  </a:lnTo>
                  <a:cubicBezTo>
                    <a:pt x="3468161" y="0"/>
                    <a:pt x="3473264" y="2114"/>
                    <a:pt x="3477027" y="5876"/>
                  </a:cubicBezTo>
                  <a:cubicBezTo>
                    <a:pt x="3480789" y="9639"/>
                    <a:pt x="3482903" y="14742"/>
                    <a:pt x="3482903" y="20064"/>
                  </a:cubicBezTo>
                  <a:lnTo>
                    <a:pt x="3482903" y="1501663"/>
                  </a:lnTo>
                  <a:cubicBezTo>
                    <a:pt x="3482903" y="1512743"/>
                    <a:pt x="3473921" y="1521726"/>
                    <a:pt x="3462840" y="1521726"/>
                  </a:cubicBezTo>
                  <a:lnTo>
                    <a:pt x="20064" y="1521726"/>
                  </a:lnTo>
                  <a:cubicBezTo>
                    <a:pt x="8983" y="1521726"/>
                    <a:pt x="0" y="1512743"/>
                    <a:pt x="0" y="1501663"/>
                  </a:cubicBezTo>
                  <a:lnTo>
                    <a:pt x="0" y="20064"/>
                  </a:lnTo>
                  <a:cubicBezTo>
                    <a:pt x="0" y="8983"/>
                    <a:pt x="8983" y="0"/>
                    <a:pt x="20064" y="0"/>
                  </a:cubicBezTo>
                  <a:close/>
                </a:path>
              </a:pathLst>
            </a:custGeom>
            <a:solidFill>
              <a:srgbClr val="000000">
                <a:alpha val="0"/>
              </a:srgbClr>
            </a:solidFill>
            <a:ln w="19050" cap="rnd">
              <a:solidFill>
                <a:srgbClr val="000000"/>
              </a:solidFill>
              <a:prstDash val="solid"/>
              <a:round/>
            </a:ln>
          </p:spPr>
        </p:sp>
        <p:sp>
          <p:nvSpPr>
            <p:cNvPr name="TextBox 5" id="5"/>
            <p:cNvSpPr txBox="true"/>
            <p:nvPr/>
          </p:nvSpPr>
          <p:spPr>
            <a:xfrm>
              <a:off x="0" y="0"/>
              <a:ext cx="3482903" cy="1521726"/>
            </a:xfrm>
            <a:prstGeom prst="rect">
              <a:avLst/>
            </a:prstGeom>
          </p:spPr>
          <p:txBody>
            <a:bodyPr anchor="ctr" rtlCol="false" tIns="50800" lIns="50800" bIns="50800" rIns="50800"/>
            <a:lstStyle/>
            <a:p>
              <a:pPr algn="ctr">
                <a:lnSpc>
                  <a:spcPts val="3024"/>
                </a:lnSpc>
              </a:pPr>
            </a:p>
          </p:txBody>
        </p:sp>
      </p:grpSp>
      <p:sp>
        <p:nvSpPr>
          <p:cNvPr name="TextBox 6" id="6"/>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14</a:t>
            </a:r>
          </a:p>
        </p:txBody>
      </p:sp>
      <p:sp>
        <p:nvSpPr>
          <p:cNvPr name="TextBox 7" id="7"/>
          <p:cNvSpPr txBox="true"/>
          <p:nvPr/>
        </p:nvSpPr>
        <p:spPr>
          <a:xfrm rot="0">
            <a:off x="4104157" y="1095264"/>
            <a:ext cx="10079687" cy="1069976"/>
          </a:xfrm>
          <a:prstGeom prst="rect">
            <a:avLst/>
          </a:prstGeom>
        </p:spPr>
        <p:txBody>
          <a:bodyPr anchor="t" rtlCol="false" tIns="0" lIns="0" bIns="0" rIns="0">
            <a:spAutoFit/>
          </a:bodyPr>
          <a:lstStyle/>
          <a:p>
            <a:pPr algn="ctr" marL="0" indent="0" lvl="0">
              <a:lnSpc>
                <a:spcPts val="8000"/>
              </a:lnSpc>
            </a:pPr>
            <a:r>
              <a:rPr lang="en-US" b="true" sz="8000">
                <a:solidFill>
                  <a:srgbClr val="2E3127"/>
                </a:solidFill>
                <a:latin typeface="Cinzel Bold"/>
                <a:ea typeface="Cinzel Bold"/>
                <a:cs typeface="Cinzel Bold"/>
                <a:sym typeface="Cinzel Bold"/>
              </a:rPr>
              <a:t>MACHINE-MONTH</a:t>
            </a:r>
          </a:p>
        </p:txBody>
      </p:sp>
      <p:sp>
        <p:nvSpPr>
          <p:cNvPr name="Freeform 8" id="8"/>
          <p:cNvSpPr/>
          <p:nvPr/>
        </p:nvSpPr>
        <p:spPr>
          <a:xfrm flipH="false" flipV="false" rot="0">
            <a:off x="2373600" y="3828074"/>
            <a:ext cx="13540801" cy="4705428"/>
          </a:xfrm>
          <a:custGeom>
            <a:avLst/>
            <a:gdLst/>
            <a:ahLst/>
            <a:cxnLst/>
            <a:rect r="r" b="b" t="t" l="l"/>
            <a:pathLst>
              <a:path h="4705428" w="13540801">
                <a:moveTo>
                  <a:pt x="0" y="0"/>
                </a:moveTo>
                <a:lnTo>
                  <a:pt x="13540800" y="0"/>
                </a:lnTo>
                <a:lnTo>
                  <a:pt x="13540800" y="4705428"/>
                </a:lnTo>
                <a:lnTo>
                  <a:pt x="0" y="4705428"/>
                </a:lnTo>
                <a:lnTo>
                  <a:pt x="0" y="0"/>
                </a:lnTo>
                <a:close/>
              </a:path>
            </a:pathLst>
          </a:custGeom>
          <a:blipFill>
            <a:blip r:embed="rId4"/>
            <a:stretch>
              <a:fillRect l="0" t="0" r="0" b="0"/>
            </a:stretch>
          </a:blipFill>
        </p:spPr>
      </p:sp>
      <p:sp>
        <p:nvSpPr>
          <p:cNvPr name="TextBox 9" id="9"/>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51" r="0" b="-12851"/>
            </a:stretch>
          </a:blipFill>
        </p:spPr>
      </p:sp>
      <p:grpSp>
        <p:nvGrpSpPr>
          <p:cNvPr name="Group 3" id="3"/>
          <p:cNvGrpSpPr/>
          <p:nvPr/>
        </p:nvGrpSpPr>
        <p:grpSpPr>
          <a:xfrm rot="0">
            <a:off x="12471394" y="4702914"/>
            <a:ext cx="1510203" cy="151020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117907" y="0"/>
                  </a:moveTo>
                  <a:lnTo>
                    <a:pt x="694893" y="0"/>
                  </a:lnTo>
                  <a:cubicBezTo>
                    <a:pt x="726164" y="0"/>
                    <a:pt x="756154" y="12422"/>
                    <a:pt x="778266" y="34534"/>
                  </a:cubicBezTo>
                  <a:cubicBezTo>
                    <a:pt x="800378" y="56646"/>
                    <a:pt x="812800" y="86636"/>
                    <a:pt x="812800" y="117907"/>
                  </a:cubicBezTo>
                  <a:lnTo>
                    <a:pt x="812800" y="694893"/>
                  </a:lnTo>
                  <a:cubicBezTo>
                    <a:pt x="812800" y="726164"/>
                    <a:pt x="800378" y="756154"/>
                    <a:pt x="778266" y="778266"/>
                  </a:cubicBezTo>
                  <a:cubicBezTo>
                    <a:pt x="756154" y="800378"/>
                    <a:pt x="726164" y="812800"/>
                    <a:pt x="694893" y="812800"/>
                  </a:cubicBezTo>
                  <a:lnTo>
                    <a:pt x="117907" y="812800"/>
                  </a:lnTo>
                  <a:cubicBezTo>
                    <a:pt x="86636" y="812800"/>
                    <a:pt x="56646" y="800378"/>
                    <a:pt x="34534" y="778266"/>
                  </a:cubicBezTo>
                  <a:cubicBezTo>
                    <a:pt x="12422" y="756154"/>
                    <a:pt x="0" y="726164"/>
                    <a:pt x="0" y="694893"/>
                  </a:cubicBezTo>
                  <a:lnTo>
                    <a:pt x="0" y="117907"/>
                  </a:lnTo>
                  <a:cubicBezTo>
                    <a:pt x="0" y="86636"/>
                    <a:pt x="12422" y="56646"/>
                    <a:pt x="34534" y="34534"/>
                  </a:cubicBezTo>
                  <a:cubicBezTo>
                    <a:pt x="56646" y="12422"/>
                    <a:pt x="86636" y="0"/>
                    <a:pt x="117907" y="0"/>
                  </a:cubicBezTo>
                  <a:close/>
                </a:path>
              </a:pathLst>
            </a:custGeom>
            <a:blipFill>
              <a:blip r:embed="rId4"/>
              <a:stretch>
                <a:fillRect l="0" t="0" r="0" b="0"/>
              </a:stretch>
            </a:blipFill>
          </p:spPr>
        </p:sp>
      </p:grpSp>
      <p:grpSp>
        <p:nvGrpSpPr>
          <p:cNvPr name="Group 5" id="5"/>
          <p:cNvGrpSpPr/>
          <p:nvPr/>
        </p:nvGrpSpPr>
        <p:grpSpPr>
          <a:xfrm rot="0">
            <a:off x="10326307" y="6911961"/>
            <a:ext cx="1560285" cy="156028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3059" t="-3919" r="-4329" b="-4914"/>
              </a:stretch>
            </a:blipFill>
            <a:ln cap="sq">
              <a:noFill/>
              <a:prstDash val="solid"/>
              <a:miter/>
            </a:ln>
          </p:spPr>
        </p:sp>
      </p:grpSp>
      <p:grpSp>
        <p:nvGrpSpPr>
          <p:cNvPr name="Group 7" id="7"/>
          <p:cNvGrpSpPr/>
          <p:nvPr/>
        </p:nvGrpSpPr>
        <p:grpSpPr>
          <a:xfrm rot="0">
            <a:off x="14670257" y="6925834"/>
            <a:ext cx="1532539" cy="153253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116189" y="0"/>
                  </a:moveTo>
                  <a:lnTo>
                    <a:pt x="696611" y="0"/>
                  </a:lnTo>
                  <a:cubicBezTo>
                    <a:pt x="727426" y="0"/>
                    <a:pt x="756979" y="12241"/>
                    <a:pt x="778769" y="34031"/>
                  </a:cubicBezTo>
                  <a:cubicBezTo>
                    <a:pt x="800559" y="55821"/>
                    <a:pt x="812800" y="85374"/>
                    <a:pt x="812800" y="116189"/>
                  </a:cubicBezTo>
                  <a:lnTo>
                    <a:pt x="812800" y="696611"/>
                  </a:lnTo>
                  <a:cubicBezTo>
                    <a:pt x="812800" y="727426"/>
                    <a:pt x="800559" y="756979"/>
                    <a:pt x="778769" y="778769"/>
                  </a:cubicBezTo>
                  <a:cubicBezTo>
                    <a:pt x="756979" y="800559"/>
                    <a:pt x="727426" y="812800"/>
                    <a:pt x="696611" y="812800"/>
                  </a:cubicBezTo>
                  <a:lnTo>
                    <a:pt x="116189" y="812800"/>
                  </a:lnTo>
                  <a:cubicBezTo>
                    <a:pt x="85374" y="812800"/>
                    <a:pt x="55821" y="800559"/>
                    <a:pt x="34031" y="778769"/>
                  </a:cubicBezTo>
                  <a:cubicBezTo>
                    <a:pt x="12241" y="756979"/>
                    <a:pt x="0" y="727426"/>
                    <a:pt x="0" y="696611"/>
                  </a:cubicBezTo>
                  <a:lnTo>
                    <a:pt x="0" y="116189"/>
                  </a:lnTo>
                  <a:cubicBezTo>
                    <a:pt x="0" y="85374"/>
                    <a:pt x="12241" y="55821"/>
                    <a:pt x="34031" y="34031"/>
                  </a:cubicBezTo>
                  <a:cubicBezTo>
                    <a:pt x="55821" y="12241"/>
                    <a:pt x="85374" y="0"/>
                    <a:pt x="116189" y="0"/>
                  </a:cubicBezTo>
                  <a:close/>
                </a:path>
              </a:pathLst>
            </a:custGeom>
            <a:blipFill>
              <a:blip r:embed="rId6"/>
              <a:stretch>
                <a:fillRect l="-97379" t="-37065" r="-94747" b="-41131"/>
              </a:stretch>
            </a:blipFill>
          </p:spPr>
        </p:sp>
      </p:grpSp>
      <p:sp>
        <p:nvSpPr>
          <p:cNvPr name="Freeform 9" id="9"/>
          <p:cNvSpPr/>
          <p:nvPr/>
        </p:nvSpPr>
        <p:spPr>
          <a:xfrm flipH="false" flipV="false" rot="0">
            <a:off x="10125798" y="2516424"/>
            <a:ext cx="1961303" cy="1382719"/>
          </a:xfrm>
          <a:custGeom>
            <a:avLst/>
            <a:gdLst/>
            <a:ahLst/>
            <a:cxnLst/>
            <a:rect r="r" b="b" t="t" l="l"/>
            <a:pathLst>
              <a:path h="1382719" w="1961303">
                <a:moveTo>
                  <a:pt x="0" y="0"/>
                </a:moveTo>
                <a:lnTo>
                  <a:pt x="1961303" y="0"/>
                </a:lnTo>
                <a:lnTo>
                  <a:pt x="1961303" y="1382718"/>
                </a:lnTo>
                <a:lnTo>
                  <a:pt x="0" y="138271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4670257" y="2441513"/>
            <a:ext cx="1532539" cy="1532539"/>
          </a:xfrm>
          <a:custGeom>
            <a:avLst/>
            <a:gdLst/>
            <a:ahLst/>
            <a:cxnLst/>
            <a:rect r="r" b="b" t="t" l="l"/>
            <a:pathLst>
              <a:path h="1532539" w="1532539">
                <a:moveTo>
                  <a:pt x="0" y="0"/>
                </a:moveTo>
                <a:lnTo>
                  <a:pt x="1532540" y="0"/>
                </a:lnTo>
                <a:lnTo>
                  <a:pt x="1532540" y="1532540"/>
                </a:lnTo>
                <a:lnTo>
                  <a:pt x="0" y="15325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627405" y="4574865"/>
            <a:ext cx="7519659" cy="1887855"/>
          </a:xfrm>
          <a:prstGeom prst="rect">
            <a:avLst/>
          </a:prstGeom>
        </p:spPr>
        <p:txBody>
          <a:bodyPr anchor="t" rtlCol="false" tIns="0" lIns="0" bIns="0" rIns="0">
            <a:spAutoFit/>
          </a:bodyPr>
          <a:lstStyle/>
          <a:p>
            <a:pPr algn="ctr" marL="0" indent="0" lvl="0">
              <a:lnSpc>
                <a:spcPts val="7200"/>
              </a:lnSpc>
            </a:pPr>
            <a:r>
              <a:rPr lang="en-US" b="true" sz="7200">
                <a:solidFill>
                  <a:srgbClr val="2E3127"/>
                </a:solidFill>
                <a:latin typeface="Cinzel Bold"/>
                <a:ea typeface="Cinzel Bold"/>
                <a:cs typeface="Cinzel Bold"/>
                <a:sym typeface="Cinzel Bold"/>
              </a:rPr>
              <a:t>DEVELOPMENT TOOLS</a:t>
            </a:r>
          </a:p>
        </p:txBody>
      </p:sp>
      <p:sp>
        <p:nvSpPr>
          <p:cNvPr name="TextBox 12" id="12"/>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15</a:t>
            </a:r>
          </a:p>
        </p:txBody>
      </p:sp>
      <p:sp>
        <p:nvSpPr>
          <p:cNvPr name="TextBox 13" id="13"/>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2851" r="0" b="-12851"/>
            </a:stretch>
          </a:blipFill>
        </p:spPr>
      </p:sp>
      <p:sp>
        <p:nvSpPr>
          <p:cNvPr name="TextBox 3" id="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16</a:t>
            </a:r>
          </a:p>
        </p:txBody>
      </p:sp>
      <p:sp>
        <p:nvSpPr>
          <p:cNvPr name="TextBox 4" id="4"/>
          <p:cNvSpPr txBox="true"/>
          <p:nvPr/>
        </p:nvSpPr>
        <p:spPr>
          <a:xfrm rot="0">
            <a:off x="3351903" y="2714076"/>
            <a:ext cx="11584195" cy="1069976"/>
          </a:xfrm>
          <a:prstGeom prst="rect">
            <a:avLst/>
          </a:prstGeom>
        </p:spPr>
        <p:txBody>
          <a:bodyPr anchor="t" rtlCol="false" tIns="0" lIns="0" bIns="0" rIns="0">
            <a:spAutoFit/>
          </a:bodyPr>
          <a:lstStyle/>
          <a:p>
            <a:pPr algn="ctr" marL="0" indent="0" lvl="0">
              <a:lnSpc>
                <a:spcPts val="8000"/>
              </a:lnSpc>
            </a:pPr>
            <a:r>
              <a:rPr lang="en-US" b="true" sz="8000">
                <a:solidFill>
                  <a:srgbClr val="2E3127"/>
                </a:solidFill>
                <a:latin typeface="Cinzel Bold"/>
                <a:ea typeface="Cinzel Bold"/>
                <a:cs typeface="Cinzel Bold"/>
                <a:sym typeface="Cinzel Bold"/>
              </a:rPr>
              <a:t>TEST EQUIPMENT</a:t>
            </a:r>
          </a:p>
        </p:txBody>
      </p:sp>
      <p:sp>
        <p:nvSpPr>
          <p:cNvPr name="TextBox 5" id="5"/>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grpSp>
        <p:nvGrpSpPr>
          <p:cNvPr name="Group 6" id="6"/>
          <p:cNvGrpSpPr/>
          <p:nvPr/>
        </p:nvGrpSpPr>
        <p:grpSpPr>
          <a:xfrm rot="0">
            <a:off x="11849753" y="4115246"/>
            <a:ext cx="4992580" cy="5143054"/>
            <a:chOff x="0" y="0"/>
            <a:chExt cx="1155476" cy="1190301"/>
          </a:xfrm>
        </p:grpSpPr>
        <p:sp>
          <p:nvSpPr>
            <p:cNvPr name="Freeform 7" id="7"/>
            <p:cNvSpPr/>
            <p:nvPr/>
          </p:nvSpPr>
          <p:spPr>
            <a:xfrm flipH="false" flipV="false" rot="0">
              <a:off x="0" y="0"/>
              <a:ext cx="1155476" cy="1190301"/>
            </a:xfrm>
            <a:custGeom>
              <a:avLst/>
              <a:gdLst/>
              <a:ahLst/>
              <a:cxnLst/>
              <a:rect r="r" b="b" t="t" l="l"/>
              <a:pathLst>
                <a:path h="1190301" w="1155476">
                  <a:moveTo>
                    <a:pt x="60477" y="0"/>
                  </a:moveTo>
                  <a:lnTo>
                    <a:pt x="1094999" y="0"/>
                  </a:lnTo>
                  <a:cubicBezTo>
                    <a:pt x="1128399" y="0"/>
                    <a:pt x="1155476" y="27076"/>
                    <a:pt x="1155476" y="60477"/>
                  </a:cubicBezTo>
                  <a:lnTo>
                    <a:pt x="1155476" y="1129824"/>
                  </a:lnTo>
                  <a:cubicBezTo>
                    <a:pt x="1155476" y="1163225"/>
                    <a:pt x="1128399" y="1190301"/>
                    <a:pt x="1094999" y="1190301"/>
                  </a:cubicBezTo>
                  <a:lnTo>
                    <a:pt x="60477" y="1190301"/>
                  </a:lnTo>
                  <a:cubicBezTo>
                    <a:pt x="27076" y="1190301"/>
                    <a:pt x="0" y="1163225"/>
                    <a:pt x="0" y="1129824"/>
                  </a:cubicBezTo>
                  <a:lnTo>
                    <a:pt x="0" y="60477"/>
                  </a:lnTo>
                  <a:cubicBezTo>
                    <a:pt x="0" y="27076"/>
                    <a:pt x="27076" y="0"/>
                    <a:pt x="60477" y="0"/>
                  </a:cubicBezTo>
                  <a:close/>
                </a:path>
              </a:pathLst>
            </a:custGeom>
            <a:solidFill>
              <a:srgbClr val="000000">
                <a:alpha val="0"/>
              </a:srgbClr>
            </a:solidFill>
            <a:ln w="19050" cap="rnd">
              <a:solidFill>
                <a:srgbClr val="000000"/>
              </a:solidFill>
              <a:prstDash val="solid"/>
              <a:round/>
            </a:ln>
          </p:spPr>
        </p:sp>
        <p:sp>
          <p:nvSpPr>
            <p:cNvPr name="TextBox 8" id="8"/>
            <p:cNvSpPr txBox="true"/>
            <p:nvPr/>
          </p:nvSpPr>
          <p:spPr>
            <a:xfrm>
              <a:off x="0" y="0"/>
              <a:ext cx="1155476" cy="1190301"/>
            </a:xfrm>
            <a:prstGeom prst="rect">
              <a:avLst/>
            </a:prstGeom>
          </p:spPr>
          <p:txBody>
            <a:bodyPr anchor="ctr" rtlCol="false" tIns="50800" lIns="50800" bIns="50800" rIns="50800"/>
            <a:lstStyle/>
            <a:p>
              <a:pPr algn="ctr">
                <a:lnSpc>
                  <a:spcPts val="3024"/>
                </a:lnSpc>
              </a:pPr>
            </a:p>
          </p:txBody>
        </p:sp>
      </p:grpSp>
      <p:sp>
        <p:nvSpPr>
          <p:cNvPr name="TextBox 9" id="9"/>
          <p:cNvSpPr txBox="true"/>
          <p:nvPr/>
        </p:nvSpPr>
        <p:spPr>
          <a:xfrm rot="0">
            <a:off x="12098445" y="4968941"/>
            <a:ext cx="4495197" cy="3772793"/>
          </a:xfrm>
          <a:prstGeom prst="rect">
            <a:avLst/>
          </a:prstGeom>
        </p:spPr>
        <p:txBody>
          <a:bodyPr anchor="t" rtlCol="false" tIns="0" lIns="0" bIns="0" rIns="0">
            <a:spAutoFit/>
          </a:bodyPr>
          <a:lstStyle/>
          <a:p>
            <a:pPr algn="just" marL="0" indent="0" lvl="0">
              <a:lnSpc>
                <a:spcPts val="2520"/>
              </a:lnSpc>
            </a:pPr>
            <a:r>
              <a:rPr lang="en-US" sz="2100">
                <a:solidFill>
                  <a:srgbClr val="2E3127"/>
                </a:solidFill>
                <a:latin typeface="Source Serif Pro"/>
                <a:ea typeface="Source Serif Pro"/>
                <a:cs typeface="Source Serif Pro"/>
                <a:sym typeface="Source Serif Pro"/>
              </a:rPr>
              <a:t> Desain akan dilakukan pengujian menggunakan  usability testing , dimana pengujian dapat memudahkan pengembang untuk memahami kesulitan yang dirasakan oleh pengguna, sehinga dapat mempermudah pengembangan solusi desain. Pengujian ini dapat dilakukan dengan melakukan wawancara dengan beberapa  user  mengenai  user experience  dari aplikasi yang telah dikembangkan</a:t>
            </a:r>
          </a:p>
        </p:txBody>
      </p:sp>
      <p:sp>
        <p:nvSpPr>
          <p:cNvPr name="TextBox 10" id="10"/>
          <p:cNvSpPr txBox="true"/>
          <p:nvPr/>
        </p:nvSpPr>
        <p:spPr>
          <a:xfrm rot="0">
            <a:off x="12098445" y="4355011"/>
            <a:ext cx="3281223" cy="457274"/>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Usability Testing</a:t>
            </a:r>
          </a:p>
        </p:txBody>
      </p:sp>
      <p:grpSp>
        <p:nvGrpSpPr>
          <p:cNvPr name="Group 11" id="11"/>
          <p:cNvGrpSpPr/>
          <p:nvPr/>
        </p:nvGrpSpPr>
        <p:grpSpPr>
          <a:xfrm rot="0">
            <a:off x="6647710" y="4115246"/>
            <a:ext cx="4992580" cy="5143054"/>
            <a:chOff x="0" y="0"/>
            <a:chExt cx="1155476" cy="1190301"/>
          </a:xfrm>
        </p:grpSpPr>
        <p:sp>
          <p:nvSpPr>
            <p:cNvPr name="Freeform 12" id="12"/>
            <p:cNvSpPr/>
            <p:nvPr/>
          </p:nvSpPr>
          <p:spPr>
            <a:xfrm flipH="false" flipV="false" rot="0">
              <a:off x="0" y="0"/>
              <a:ext cx="1155476" cy="1190301"/>
            </a:xfrm>
            <a:custGeom>
              <a:avLst/>
              <a:gdLst/>
              <a:ahLst/>
              <a:cxnLst/>
              <a:rect r="r" b="b" t="t" l="l"/>
              <a:pathLst>
                <a:path h="1190301" w="1155476">
                  <a:moveTo>
                    <a:pt x="60477" y="0"/>
                  </a:moveTo>
                  <a:lnTo>
                    <a:pt x="1094999" y="0"/>
                  </a:lnTo>
                  <a:cubicBezTo>
                    <a:pt x="1128399" y="0"/>
                    <a:pt x="1155476" y="27076"/>
                    <a:pt x="1155476" y="60477"/>
                  </a:cubicBezTo>
                  <a:lnTo>
                    <a:pt x="1155476" y="1129824"/>
                  </a:lnTo>
                  <a:cubicBezTo>
                    <a:pt x="1155476" y="1163225"/>
                    <a:pt x="1128399" y="1190301"/>
                    <a:pt x="1094999" y="1190301"/>
                  </a:cubicBezTo>
                  <a:lnTo>
                    <a:pt x="60477" y="1190301"/>
                  </a:lnTo>
                  <a:cubicBezTo>
                    <a:pt x="27076" y="1190301"/>
                    <a:pt x="0" y="1163225"/>
                    <a:pt x="0" y="1129824"/>
                  </a:cubicBezTo>
                  <a:lnTo>
                    <a:pt x="0" y="60477"/>
                  </a:lnTo>
                  <a:cubicBezTo>
                    <a:pt x="0" y="27076"/>
                    <a:pt x="27076" y="0"/>
                    <a:pt x="60477" y="0"/>
                  </a:cubicBezTo>
                  <a:close/>
                </a:path>
              </a:pathLst>
            </a:custGeom>
            <a:solidFill>
              <a:srgbClr val="000000">
                <a:alpha val="0"/>
              </a:srgbClr>
            </a:solidFill>
            <a:ln w="19050" cap="rnd">
              <a:solidFill>
                <a:srgbClr val="000000"/>
              </a:solidFill>
              <a:prstDash val="solid"/>
              <a:round/>
            </a:ln>
          </p:spPr>
        </p:sp>
        <p:sp>
          <p:nvSpPr>
            <p:cNvPr name="TextBox 13" id="13"/>
            <p:cNvSpPr txBox="true"/>
            <p:nvPr/>
          </p:nvSpPr>
          <p:spPr>
            <a:xfrm>
              <a:off x="0" y="0"/>
              <a:ext cx="1155476" cy="1190301"/>
            </a:xfrm>
            <a:prstGeom prst="rect">
              <a:avLst/>
            </a:prstGeom>
          </p:spPr>
          <p:txBody>
            <a:bodyPr anchor="ctr" rtlCol="false" tIns="50800" lIns="50800" bIns="50800" rIns="50800"/>
            <a:lstStyle/>
            <a:p>
              <a:pPr algn="ctr">
                <a:lnSpc>
                  <a:spcPts val="3024"/>
                </a:lnSpc>
              </a:pPr>
            </a:p>
          </p:txBody>
        </p:sp>
      </p:grpSp>
      <p:sp>
        <p:nvSpPr>
          <p:cNvPr name="TextBox 14" id="14"/>
          <p:cNvSpPr txBox="true"/>
          <p:nvPr/>
        </p:nvSpPr>
        <p:spPr>
          <a:xfrm rot="0">
            <a:off x="6896402" y="4968941"/>
            <a:ext cx="4495197" cy="3143994"/>
          </a:xfrm>
          <a:prstGeom prst="rect">
            <a:avLst/>
          </a:prstGeom>
        </p:spPr>
        <p:txBody>
          <a:bodyPr anchor="t" rtlCol="false" tIns="0" lIns="0" bIns="0" rIns="0">
            <a:spAutoFit/>
          </a:bodyPr>
          <a:lstStyle/>
          <a:p>
            <a:pPr algn="just" marL="0" indent="0" lvl="0">
              <a:lnSpc>
                <a:spcPts val="2520"/>
              </a:lnSpc>
            </a:pPr>
            <a:r>
              <a:rPr lang="en-US" sz="2100">
                <a:solidFill>
                  <a:srgbClr val="2E3127"/>
                </a:solidFill>
                <a:latin typeface="Source Serif Pro"/>
                <a:ea typeface="Source Serif Pro"/>
                <a:cs typeface="Source Serif Pro"/>
                <a:sym typeface="Source Serif Pro"/>
              </a:rPr>
              <a:t> Pengujian perangkat lunak dilakukan secara  black box , yaitu pengujian perangkat lunak berdasarkan pengeluaran tanpa mengetahui struktur atau kode program. Jika keluaran tidak sesuai dengan yang diinginkan maka perangkat lunak akan diperbaiki sampai keluaran yang didapatkan sesuai.</a:t>
            </a:r>
          </a:p>
        </p:txBody>
      </p:sp>
      <p:sp>
        <p:nvSpPr>
          <p:cNvPr name="TextBox 15" id="15"/>
          <p:cNvSpPr txBox="true"/>
          <p:nvPr/>
        </p:nvSpPr>
        <p:spPr>
          <a:xfrm rot="0">
            <a:off x="6896402" y="4355011"/>
            <a:ext cx="3281223" cy="457274"/>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Blackbox Testing</a:t>
            </a:r>
          </a:p>
        </p:txBody>
      </p:sp>
      <p:grpSp>
        <p:nvGrpSpPr>
          <p:cNvPr name="Group 16" id="16"/>
          <p:cNvGrpSpPr/>
          <p:nvPr/>
        </p:nvGrpSpPr>
        <p:grpSpPr>
          <a:xfrm rot="0">
            <a:off x="1445667" y="4115246"/>
            <a:ext cx="4992580" cy="5143054"/>
            <a:chOff x="0" y="0"/>
            <a:chExt cx="1155476" cy="1190301"/>
          </a:xfrm>
        </p:grpSpPr>
        <p:sp>
          <p:nvSpPr>
            <p:cNvPr name="Freeform 17" id="17"/>
            <p:cNvSpPr/>
            <p:nvPr/>
          </p:nvSpPr>
          <p:spPr>
            <a:xfrm flipH="false" flipV="false" rot="0">
              <a:off x="0" y="0"/>
              <a:ext cx="1155476" cy="1190301"/>
            </a:xfrm>
            <a:custGeom>
              <a:avLst/>
              <a:gdLst/>
              <a:ahLst/>
              <a:cxnLst/>
              <a:rect r="r" b="b" t="t" l="l"/>
              <a:pathLst>
                <a:path h="1190301" w="1155476">
                  <a:moveTo>
                    <a:pt x="60477" y="0"/>
                  </a:moveTo>
                  <a:lnTo>
                    <a:pt x="1094999" y="0"/>
                  </a:lnTo>
                  <a:cubicBezTo>
                    <a:pt x="1128399" y="0"/>
                    <a:pt x="1155476" y="27076"/>
                    <a:pt x="1155476" y="60477"/>
                  </a:cubicBezTo>
                  <a:lnTo>
                    <a:pt x="1155476" y="1129824"/>
                  </a:lnTo>
                  <a:cubicBezTo>
                    <a:pt x="1155476" y="1163225"/>
                    <a:pt x="1128399" y="1190301"/>
                    <a:pt x="1094999" y="1190301"/>
                  </a:cubicBezTo>
                  <a:lnTo>
                    <a:pt x="60477" y="1190301"/>
                  </a:lnTo>
                  <a:cubicBezTo>
                    <a:pt x="27076" y="1190301"/>
                    <a:pt x="0" y="1163225"/>
                    <a:pt x="0" y="1129824"/>
                  </a:cubicBezTo>
                  <a:lnTo>
                    <a:pt x="0" y="60477"/>
                  </a:lnTo>
                  <a:cubicBezTo>
                    <a:pt x="0" y="27076"/>
                    <a:pt x="27076" y="0"/>
                    <a:pt x="60477" y="0"/>
                  </a:cubicBezTo>
                  <a:close/>
                </a:path>
              </a:pathLst>
            </a:custGeom>
            <a:solidFill>
              <a:srgbClr val="000000">
                <a:alpha val="0"/>
              </a:srgbClr>
            </a:solidFill>
            <a:ln w="19050" cap="rnd">
              <a:solidFill>
                <a:srgbClr val="000000"/>
              </a:solidFill>
              <a:prstDash val="solid"/>
              <a:round/>
            </a:ln>
          </p:spPr>
        </p:sp>
        <p:sp>
          <p:nvSpPr>
            <p:cNvPr name="TextBox 18" id="18"/>
            <p:cNvSpPr txBox="true"/>
            <p:nvPr/>
          </p:nvSpPr>
          <p:spPr>
            <a:xfrm>
              <a:off x="0" y="0"/>
              <a:ext cx="1155476" cy="1190301"/>
            </a:xfrm>
            <a:prstGeom prst="rect">
              <a:avLst/>
            </a:prstGeom>
          </p:spPr>
          <p:txBody>
            <a:bodyPr anchor="ctr" rtlCol="false" tIns="50800" lIns="50800" bIns="50800" rIns="50800"/>
            <a:lstStyle/>
            <a:p>
              <a:pPr algn="ctr">
                <a:lnSpc>
                  <a:spcPts val="3024"/>
                </a:lnSpc>
              </a:pPr>
            </a:p>
          </p:txBody>
        </p:sp>
      </p:grpSp>
      <p:sp>
        <p:nvSpPr>
          <p:cNvPr name="TextBox 19" id="19"/>
          <p:cNvSpPr txBox="true"/>
          <p:nvPr/>
        </p:nvSpPr>
        <p:spPr>
          <a:xfrm rot="0">
            <a:off x="1694358" y="4968941"/>
            <a:ext cx="4495197" cy="2829595"/>
          </a:xfrm>
          <a:prstGeom prst="rect">
            <a:avLst/>
          </a:prstGeom>
        </p:spPr>
        <p:txBody>
          <a:bodyPr anchor="t" rtlCol="false" tIns="0" lIns="0" bIns="0" rIns="0">
            <a:spAutoFit/>
          </a:bodyPr>
          <a:lstStyle/>
          <a:p>
            <a:pPr algn="just" marL="0" indent="0" lvl="0">
              <a:lnSpc>
                <a:spcPts val="2520"/>
              </a:lnSpc>
            </a:pPr>
            <a:r>
              <a:rPr lang="en-US" sz="2100">
                <a:solidFill>
                  <a:srgbClr val="2E3127"/>
                </a:solidFill>
                <a:latin typeface="Source Serif Pro"/>
                <a:ea typeface="Source Serif Pro"/>
                <a:cs typeface="Source Serif Pro"/>
                <a:sym typeface="Source Serif Pro"/>
              </a:rPr>
              <a:t> Pada  white box testing , penguji aplikasi yaitu pengembang kode itu sendiri dengan cara membuat kasus uji berdasarkan pemahaman tentang bagaimana kode bekerja. Tujuan utamanya untuk memastikan bahwa logika internal perangkat lunak berfungsi dengan benar dengan memeriksa struktur kodenya</a:t>
            </a:r>
          </a:p>
        </p:txBody>
      </p:sp>
      <p:sp>
        <p:nvSpPr>
          <p:cNvPr name="TextBox 20" id="20"/>
          <p:cNvSpPr txBox="true"/>
          <p:nvPr/>
        </p:nvSpPr>
        <p:spPr>
          <a:xfrm rot="0">
            <a:off x="1694358" y="4355011"/>
            <a:ext cx="3281223" cy="457274"/>
          </a:xfrm>
          <a:prstGeom prst="rect">
            <a:avLst/>
          </a:prstGeom>
        </p:spPr>
        <p:txBody>
          <a:bodyPr anchor="t" rtlCol="false" tIns="0" lIns="0" bIns="0" rIns="0">
            <a:spAutoFit/>
          </a:bodyPr>
          <a:lstStyle/>
          <a:p>
            <a:pPr algn="ctr" marL="0" indent="0" lvl="0">
              <a:lnSpc>
                <a:spcPts val="3600"/>
              </a:lnSpc>
            </a:pPr>
            <a:r>
              <a:rPr lang="en-US" b="true" sz="3000">
                <a:solidFill>
                  <a:srgbClr val="2E3127"/>
                </a:solidFill>
                <a:latin typeface="Source Serif Pro Bold"/>
                <a:ea typeface="Source Serif Pro Bold"/>
                <a:cs typeface="Source Serif Pro Bold"/>
                <a:sym typeface="Source Serif Pro Bold"/>
              </a:rPr>
              <a:t>Whitebox Testing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851" r="0" b="-12851"/>
            </a:stretch>
          </a:blipFill>
        </p:spPr>
      </p:sp>
      <p:sp>
        <p:nvSpPr>
          <p:cNvPr name="TextBox 3" id="3"/>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2E3127"/>
                </a:solidFill>
                <a:latin typeface="Cinzel Bold"/>
                <a:ea typeface="Cinzel Bold"/>
                <a:cs typeface="Cinzel Bold"/>
                <a:sym typeface="Cinzel Bold"/>
              </a:rPr>
              <a:t>17</a:t>
            </a:r>
          </a:p>
        </p:txBody>
      </p:sp>
      <p:sp>
        <p:nvSpPr>
          <p:cNvPr name="TextBox 4" id="4"/>
          <p:cNvSpPr txBox="true"/>
          <p:nvPr/>
        </p:nvSpPr>
        <p:spPr>
          <a:xfrm rot="0">
            <a:off x="4803958" y="5143500"/>
            <a:ext cx="8680085" cy="1562100"/>
          </a:xfrm>
          <a:prstGeom prst="rect">
            <a:avLst/>
          </a:prstGeom>
        </p:spPr>
        <p:txBody>
          <a:bodyPr anchor="t" rtlCol="false" tIns="0" lIns="0" bIns="0" rIns="0">
            <a:spAutoFit/>
          </a:bodyPr>
          <a:lstStyle/>
          <a:p>
            <a:pPr algn="just" marL="0" indent="0" lvl="0">
              <a:lnSpc>
                <a:spcPts val="3078"/>
              </a:lnSpc>
            </a:pPr>
            <a:r>
              <a:rPr lang="en-US" sz="2565">
                <a:solidFill>
                  <a:srgbClr val="2E3127"/>
                </a:solidFill>
                <a:latin typeface="Source Serif Pro"/>
                <a:ea typeface="Source Serif Pro"/>
                <a:cs typeface="Source Serif Pro"/>
                <a:sym typeface="Source Serif Pro"/>
              </a:rPr>
              <a:t>Dalam pengembangan aplikasi Monitoring Stok ini tidak memerlukan orang dengan keahlian khusus ( expert ) . Program yang dikembangkan berbasis  web  dimana hal tersebut sudah diajarkan di bangku perkuliahan.   </a:t>
            </a:r>
          </a:p>
        </p:txBody>
      </p:sp>
      <p:sp>
        <p:nvSpPr>
          <p:cNvPr name="TextBox 5" id="5"/>
          <p:cNvSpPr txBox="true"/>
          <p:nvPr/>
        </p:nvSpPr>
        <p:spPr>
          <a:xfrm rot="0">
            <a:off x="2190301" y="2819404"/>
            <a:ext cx="13907397" cy="1069976"/>
          </a:xfrm>
          <a:prstGeom prst="rect">
            <a:avLst/>
          </a:prstGeom>
        </p:spPr>
        <p:txBody>
          <a:bodyPr anchor="t" rtlCol="false" tIns="0" lIns="0" bIns="0" rIns="0">
            <a:spAutoFit/>
          </a:bodyPr>
          <a:lstStyle/>
          <a:p>
            <a:pPr algn="ctr" marL="0" indent="0" lvl="0">
              <a:lnSpc>
                <a:spcPts val="8000"/>
              </a:lnSpc>
            </a:pPr>
            <a:r>
              <a:rPr lang="en-US" b="true" sz="8000">
                <a:solidFill>
                  <a:srgbClr val="2E3127"/>
                </a:solidFill>
                <a:latin typeface="Cinzel Bold"/>
                <a:ea typeface="Cinzel Bold"/>
                <a:cs typeface="Cinzel Bold"/>
                <a:sym typeface="Cinzel Bold"/>
              </a:rPr>
              <a:t>KEBUTUHAN EXPERT</a:t>
            </a:r>
          </a:p>
        </p:txBody>
      </p:sp>
      <p:sp>
        <p:nvSpPr>
          <p:cNvPr name="TextBox 6" id="6"/>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703" r="0" b="0"/>
            </a:stretch>
          </a:blipFill>
        </p:spPr>
      </p:sp>
      <p:graphicFrame>
        <p:nvGraphicFramePr>
          <p:cNvPr name="Table 3" id="3"/>
          <p:cNvGraphicFramePr>
            <a:graphicFrameLocks noGrp="true"/>
          </p:cNvGraphicFramePr>
          <p:nvPr/>
        </p:nvGraphicFramePr>
        <p:xfrm>
          <a:off x="2317530" y="2879230"/>
          <a:ext cx="13652940" cy="5238750"/>
        </p:xfrm>
        <a:graphic>
          <a:graphicData uri="http://schemas.openxmlformats.org/drawingml/2006/table">
            <a:tbl>
              <a:tblPr/>
              <a:tblGrid>
                <a:gridCol w="1391096"/>
                <a:gridCol w="4467146"/>
                <a:gridCol w="7794697"/>
              </a:tblGrid>
              <a:tr h="1047750">
                <a:tc>
                  <a:txBody>
                    <a:bodyPr anchor="t" rtlCol="false"/>
                    <a:lstStyle/>
                    <a:p>
                      <a:pPr algn="ctr">
                        <a:lnSpc>
                          <a:spcPts val="3919"/>
                        </a:lnSpc>
                        <a:defRPr/>
                      </a:pPr>
                      <a:r>
                        <a:rPr lang="en-US" sz="2799" b="true">
                          <a:solidFill>
                            <a:srgbClr val="FFFFFF"/>
                          </a:solidFill>
                          <a:latin typeface="Source Serif Pro Bold"/>
                          <a:ea typeface="Source Serif Pro Bold"/>
                          <a:cs typeface="Source Serif Pro Bold"/>
                          <a:sym typeface="Source Serif Pro Bold"/>
                        </a:rPr>
                        <a:t>NO</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2C2C2C"/>
                    </a:solidFill>
                  </a:tcPr>
                </a:tc>
                <a:tc>
                  <a:txBody>
                    <a:bodyPr anchor="t" rtlCol="false"/>
                    <a:lstStyle/>
                    <a:p>
                      <a:pPr algn="ctr">
                        <a:lnSpc>
                          <a:spcPts val="3919"/>
                        </a:lnSpc>
                        <a:defRPr/>
                      </a:pPr>
                      <a:r>
                        <a:rPr lang="en-US" sz="2799" b="true">
                          <a:solidFill>
                            <a:srgbClr val="FFFFFF"/>
                          </a:solidFill>
                          <a:latin typeface="Source Serif Pro Bold"/>
                          <a:ea typeface="Source Serif Pro Bold"/>
                          <a:cs typeface="Source Serif Pro Bold"/>
                          <a:sym typeface="Source Serif Pro Bold"/>
                        </a:rPr>
                        <a:t>Nama Barang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2C2C2C"/>
                    </a:solidFill>
                  </a:tcPr>
                </a:tc>
                <a:tc>
                  <a:txBody>
                    <a:bodyPr anchor="t" rtlCol="false"/>
                    <a:lstStyle/>
                    <a:p>
                      <a:pPr algn="ctr">
                        <a:lnSpc>
                          <a:spcPts val="3919"/>
                        </a:lnSpc>
                        <a:defRPr/>
                      </a:pPr>
                      <a:r>
                        <a:rPr lang="en-US" sz="2799" b="true">
                          <a:solidFill>
                            <a:srgbClr val="FFFFFF"/>
                          </a:solidFill>
                          <a:latin typeface="Source Serif Pro Bold"/>
                          <a:ea typeface="Source Serif Pro Bold"/>
                          <a:cs typeface="Source Serif Pro Bold"/>
                          <a:sym typeface="Source Serif Pro Bold"/>
                        </a:rPr>
                        <a:t>Harga</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2C2C2C"/>
                    </a:solidFill>
                  </a:tcPr>
                </a:tc>
              </a:tr>
              <a:tr h="1047750">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1</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Domain+Hosting </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Rp600.000</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r>
              <a:tr h="1047750">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2</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Biaya Operasional</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Rp150.000</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r>
              <a:tr h="1047750">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3</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Jasa Pembuatan Sistem</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Rp3.000.000</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r>
              <a:tr h="1047750">
                <a:tc>
                  <a:txBody>
                    <a:bodyPr anchor="t" rtlCol="false"/>
                    <a:lstStyle/>
                    <a:p>
                      <a:pPr algn="ctr">
                        <a:lnSpc>
                          <a:spcPts val="39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r">
                        <a:lnSpc>
                          <a:spcPts val="3919"/>
                        </a:lnSpc>
                        <a:defRPr/>
                      </a:pPr>
                      <a:r>
                        <a:rPr lang="en-US" sz="2799">
                          <a:solidFill>
                            <a:srgbClr val="FFFFFF"/>
                          </a:solidFill>
                          <a:latin typeface="Source Serif Pro"/>
                          <a:ea typeface="Source Serif Pro"/>
                          <a:cs typeface="Source Serif Pro"/>
                          <a:sym typeface="Source Serif Pro"/>
                        </a:rPr>
                        <a:t>Total</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c>
                  <a:txBody>
                    <a:bodyPr anchor="t" rtlCol="false"/>
                    <a:lstStyle/>
                    <a:p>
                      <a:pPr algn="ctr">
                        <a:lnSpc>
                          <a:spcPts val="3919"/>
                        </a:lnSpc>
                        <a:defRPr/>
                      </a:pPr>
                      <a:r>
                        <a:rPr lang="en-US" sz="2799">
                          <a:solidFill>
                            <a:srgbClr val="FFFFFF"/>
                          </a:solidFill>
                          <a:latin typeface="Source Serif Pro"/>
                          <a:ea typeface="Source Serif Pro"/>
                          <a:cs typeface="Source Serif Pro"/>
                          <a:sym typeface="Source Serif Pro"/>
                        </a:rPr>
                        <a:t>Rp3.750.000</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4E4E4E"/>
                    </a:solidFill>
                  </a:tcPr>
                </a:tc>
              </a:tr>
            </a:tbl>
          </a:graphicData>
        </a:graphic>
      </p:graphicFrame>
      <p:sp>
        <p:nvSpPr>
          <p:cNvPr name="TextBox 4" id="4"/>
          <p:cNvSpPr txBox="true"/>
          <p:nvPr/>
        </p:nvSpPr>
        <p:spPr>
          <a:xfrm rot="0">
            <a:off x="1619535" y="1206427"/>
            <a:ext cx="1279686" cy="695251"/>
          </a:xfrm>
          <a:prstGeom prst="rect">
            <a:avLst/>
          </a:prstGeom>
        </p:spPr>
        <p:txBody>
          <a:bodyPr anchor="t" rtlCol="false" tIns="0" lIns="0" bIns="0" rIns="0">
            <a:spAutoFit/>
          </a:bodyPr>
          <a:lstStyle/>
          <a:p>
            <a:pPr algn="just" marL="0" indent="0" lvl="0">
              <a:lnSpc>
                <a:spcPts val="5400"/>
              </a:lnSpc>
            </a:pPr>
            <a:r>
              <a:rPr lang="en-US" b="true" sz="4500">
                <a:solidFill>
                  <a:srgbClr val="FFFFFA"/>
                </a:solidFill>
                <a:latin typeface="Cinzel Bold"/>
                <a:ea typeface="Cinzel Bold"/>
                <a:cs typeface="Cinzel Bold"/>
                <a:sym typeface="Cinzel Bold"/>
              </a:rPr>
              <a:t>18</a:t>
            </a:r>
          </a:p>
        </p:txBody>
      </p:sp>
      <p:sp>
        <p:nvSpPr>
          <p:cNvPr name="TextBox 5" id="5"/>
          <p:cNvSpPr txBox="true"/>
          <p:nvPr/>
        </p:nvSpPr>
        <p:spPr>
          <a:xfrm rot="0">
            <a:off x="5973149" y="1230520"/>
            <a:ext cx="6341701" cy="751840"/>
          </a:xfrm>
          <a:prstGeom prst="rect">
            <a:avLst/>
          </a:prstGeom>
        </p:spPr>
        <p:txBody>
          <a:bodyPr anchor="t" rtlCol="false" tIns="0" lIns="0" bIns="0" rIns="0">
            <a:spAutoFit/>
          </a:bodyPr>
          <a:lstStyle/>
          <a:p>
            <a:pPr algn="l" marL="0" indent="0" lvl="0">
              <a:lnSpc>
                <a:spcPts val="5600"/>
              </a:lnSpc>
            </a:pPr>
            <a:r>
              <a:rPr lang="en-US" b="true" sz="5600">
                <a:solidFill>
                  <a:srgbClr val="2E3127"/>
                </a:solidFill>
                <a:latin typeface="Cinzel Bold"/>
                <a:ea typeface="Cinzel Bold"/>
                <a:cs typeface="Cinzel Bold"/>
                <a:sym typeface="Cinzel Bold"/>
              </a:rPr>
              <a:t>Perkiraan biaya</a:t>
            </a:r>
          </a:p>
        </p:txBody>
      </p:sp>
      <p:sp>
        <p:nvSpPr>
          <p:cNvPr name="TextBox 6" id="6"/>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703" r="0" b="0"/>
            </a:stretch>
          </a:blipFill>
        </p:spPr>
      </p:sp>
      <p:sp>
        <p:nvSpPr>
          <p:cNvPr name="TextBox 3" id="3"/>
          <p:cNvSpPr txBox="true"/>
          <p:nvPr/>
        </p:nvSpPr>
        <p:spPr>
          <a:xfrm rot="0">
            <a:off x="2038860" y="3325498"/>
            <a:ext cx="9851827" cy="2325749"/>
          </a:xfrm>
          <a:prstGeom prst="rect">
            <a:avLst/>
          </a:prstGeom>
        </p:spPr>
        <p:txBody>
          <a:bodyPr anchor="t" rtlCol="false" tIns="0" lIns="0" bIns="0" rIns="0">
            <a:spAutoFit/>
          </a:bodyPr>
          <a:lstStyle/>
          <a:p>
            <a:pPr algn="l" marL="0" indent="0" lvl="0">
              <a:lnSpc>
                <a:spcPts val="16913"/>
              </a:lnSpc>
            </a:pPr>
            <a:r>
              <a:rPr lang="en-US" b="true" sz="18793">
                <a:solidFill>
                  <a:srgbClr val="2E3127"/>
                </a:solidFill>
                <a:latin typeface="Cinzel Bold"/>
                <a:ea typeface="Cinzel Bold"/>
                <a:cs typeface="Cinzel Bold"/>
                <a:sym typeface="Cinzel Bold"/>
              </a:rPr>
              <a:t>THANK</a:t>
            </a:r>
          </a:p>
        </p:txBody>
      </p:sp>
      <p:sp>
        <p:nvSpPr>
          <p:cNvPr name="TextBox 4" id="4"/>
          <p:cNvSpPr txBox="true"/>
          <p:nvPr/>
        </p:nvSpPr>
        <p:spPr>
          <a:xfrm rot="0">
            <a:off x="9562806" y="5169153"/>
            <a:ext cx="6686334" cy="2325749"/>
          </a:xfrm>
          <a:prstGeom prst="rect">
            <a:avLst/>
          </a:prstGeom>
        </p:spPr>
        <p:txBody>
          <a:bodyPr anchor="t" rtlCol="false" tIns="0" lIns="0" bIns="0" rIns="0">
            <a:spAutoFit/>
          </a:bodyPr>
          <a:lstStyle/>
          <a:p>
            <a:pPr algn="l" marL="0" indent="0" lvl="0">
              <a:lnSpc>
                <a:spcPts val="16913"/>
              </a:lnSpc>
            </a:pPr>
            <a:r>
              <a:rPr lang="en-US" b="true" sz="18793">
                <a:solidFill>
                  <a:srgbClr val="2E3127"/>
                </a:solidFill>
                <a:latin typeface="Cinzel Bold"/>
                <a:ea typeface="Cinzel Bold"/>
                <a:cs typeface="Cinzel Bold"/>
                <a:sym typeface="Cinzel Bold"/>
              </a:rPr>
              <a:t>YOU</a:t>
            </a:r>
          </a:p>
        </p:txBody>
      </p:sp>
      <p:sp>
        <p:nvSpPr>
          <p:cNvPr name="TextBox 5" id="5"/>
          <p:cNvSpPr txBox="true"/>
          <p:nvPr/>
        </p:nvSpPr>
        <p:spPr>
          <a:xfrm rot="0">
            <a:off x="14311189" y="9785996"/>
            <a:ext cx="3464736" cy="333375"/>
          </a:xfrm>
          <a:prstGeom prst="rect">
            <a:avLst/>
          </a:prstGeom>
        </p:spPr>
        <p:txBody>
          <a:bodyPr anchor="t" rtlCol="false" tIns="0" lIns="0" bIns="0" rIns="0">
            <a:spAutoFit/>
          </a:bodyPr>
          <a:lstStyle/>
          <a:p>
            <a:pPr algn="r" marL="0" indent="0" lvl="0">
              <a:lnSpc>
                <a:spcPts val="2640"/>
              </a:lnSpc>
            </a:pPr>
            <a:r>
              <a:rPr lang="en-US" b="true" sz="2200">
                <a:solidFill>
                  <a:srgbClr val="2E3127"/>
                </a:solidFill>
                <a:latin typeface="Source Serif Pro Bold"/>
                <a:ea typeface="Source Serif Pro Bold"/>
                <a:cs typeface="Source Serif Pro Bold"/>
                <a:sym typeface="Source Serif Pro Bold"/>
              </a:rPr>
              <a:t>Teknik Komputer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DAGRYoiRreQ</dc:identifier>
  <dcterms:modified xsi:type="dcterms:W3CDTF">2011-08-01T06:04:30Z</dcterms:modified>
  <cp:revision>1</cp:revision>
  <dc:title>PPT C100</dc:title>
</cp:coreProperties>
</file>